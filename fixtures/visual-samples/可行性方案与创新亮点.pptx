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2" r:id="rId4"/>
  </p:sldMasterIdLst>
  <p:notesMasterIdLst>
    <p:notesMasterId r:id="rId7"/>
  </p:notesMasterIdLst>
  <p:handoutMasterIdLst>
    <p:handoutMasterId r:id="rId8"/>
  </p:handoutMasterIdLst>
  <p:sldIdLst>
    <p:sldId id="605" r:id="rId5"/>
    <p:sldId id="602" r:id="rId6"/>
  </p:sldIdLst>
  <p:sldSz cx="12192000" cy="6858000"/>
  <p:notesSz cx="9865995" cy="6735445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0" userDrawn="1">
          <p15:clr>
            <a:srgbClr val="A4A3A4"/>
          </p15:clr>
        </p15:guide>
        <p15:guide id="2" pos="59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C" initials="P" lastIdx="1" clrIdx="0"/>
  <p:cmAuthor id="1" name="幸全" initials="幸全" lastIdx="1" clrIdx="0"/>
  <p:cmAuthor id="2" name="作者" initials="A" lastIdx="0" clrIdx="1"/>
  <p:cmAuthor id="3" name="何慧彬" initials="HHB" lastIdx="3" clrIdx="2"/>
  <p:cmAuthor id="4" name="Zhang Meichen" initials="ZM" lastIdx="1" clrIdx="3"/>
  <p:cmAuthor id="5" name="Lenovo" initials="L" lastIdx="1" clrIdx="4"/>
  <p:cmAuthor id="6" name="lenovo" initials="l" lastIdx="3" clrIdx="5"/>
  <p:cmAuthor id="7" name="liuyansong" initials="l" lastIdx="1" clrIdx="6"/>
  <p:cmAuthor id="8" name="csci" initials="c" lastIdx="1" clrIdx="7"/>
  <p:cmAuthor id="9" name="0000" initials="00" lastIdx="3" clrIdx="8"/>
  <p:cmAuthor id="10" name="Liao, Stacy Fan Wei (CN - Hong Kong)" initials="LSFW(-HK" lastIdx="1" clrIdx="9"/>
  <p:cmAuthor id="11" name="myema" initials="m" lastIdx="1" clrIdx="10"/>
  <p:cmAuthor id="12" name="longi.cheng" initials="l" lastIdx="2" clrIdx="11"/>
  <p:cmAuthor id="13" name="刘议濛" initials="刘" lastIdx="1" clrIdx="3"/>
  <p:cmAuthor id="14" name="LENOVO" initials="L" lastIdx="1" clrIdx="13"/>
  <p:cmAuthor id="15" name="未知用户2" initials="未" lastIdx="2" clrIdx="0"/>
  <p:cmAuthor id="16" name="未知用户5" initials="未" lastIdx="1" clrIdx="0"/>
  <p:cmAuthor id="17" name="李新" initials="李" lastIdx="1" clrIdx="1"/>
  <p:cmAuthor id="18" name="Pan, Jason Chi Feng (CN - Guangzhou)" initials="P" lastIdx="1" clrIdx="0"/>
  <p:cmAuthor id="19" name="Unknown User2" initials="U" lastIdx="2" clrIdx="0"/>
  <p:cmAuthor id="20" name="齐昕" initials="齐" lastIdx="4" clrIdx="0"/>
  <p:cmAuthor id="21" name="刘 洪亮" initials="刘" lastIdx="2" clrIdx="0"/>
  <p:cmAuthor id="22" name="Hans Yang" initials="H" lastIdx="1" clrIdx="2"/>
  <p:cmAuthor id="23" name="he" initials="h" lastIdx="2" clrIdx="0"/>
  <p:cmAuthor id="24" name="蒋铁峰" initials="蒋" lastIdx="1" clrIdx="0"/>
  <p:cmAuthor id="25" name="ZhangXiaoMin" initials="Z" lastIdx="1" clrIdx="1"/>
  <p:cmAuthor id="26" name="Li, Siyu" initials="L" lastIdx="12" clrIdx="1"/>
  <p:cmAuthor id="27" name="jiang" initials="j" lastIdx="1" clrIdx="0"/>
  <p:cmAuthor id="28" name="王二狗" initials="王" lastIdx="1" clrIdx="1"/>
  <p:cmAuthor id="29" name="宋遥" initials="宋" lastIdx="1" clrIdx="28"/>
  <p:cmAuthor id="30" name="李阳酉" initials="李" lastIdx="25" clrIdx="29"/>
  <p:cmAuthor id="31" name="未知用户22" initials="未" lastIdx="2" clrIdx="0"/>
  <p:cmAuthor id="32" name="未知用户23" initials="未" lastIdx="0" clrIdx="2"/>
  <p:cmAuthor id="33" name="COHL" initials="C" lastIdx="1" clrIdx="3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FFFF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2" autoAdjust="0"/>
    <p:restoredTop sz="94661"/>
  </p:normalViewPr>
  <p:slideViewPr>
    <p:cSldViewPr snapToGrid="0" showGuides="1">
      <p:cViewPr varScale="1">
        <p:scale>
          <a:sx n="80" d="100"/>
          <a:sy n="80" d="100"/>
        </p:scale>
        <p:origin x="378" y="57"/>
      </p:cViewPr>
      <p:guideLst>
        <p:guide orient="horz" pos="1770"/>
        <p:guide pos="5998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6478" cy="337871"/>
          </a:xfrm>
          <a:prstGeom prst="rect">
            <a:avLst/>
          </a:prstGeom>
        </p:spPr>
        <p:txBody>
          <a:bodyPr vert="horz" lIns="91056" tIns="45528" rIns="91056" bIns="45528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87533" y="0"/>
            <a:ext cx="4276478" cy="337871"/>
          </a:xfrm>
          <a:prstGeom prst="rect">
            <a:avLst/>
          </a:prstGeom>
        </p:spPr>
        <p:txBody>
          <a:bodyPr vert="horz" lIns="91056" tIns="45528" rIns="91056" bIns="45528" rtlCol="0"/>
          <a:lstStyle>
            <a:lvl1pPr algn="r">
              <a:defRPr sz="1200"/>
            </a:lvl1pPr>
          </a:lstStyle>
          <a:p>
            <a:fld id="{A10B7EF4-DAA7-4413-A1A0-ACAAC61FF2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6397892"/>
            <a:ext cx="4276478" cy="337871"/>
          </a:xfrm>
          <a:prstGeom prst="rect">
            <a:avLst/>
          </a:prstGeom>
        </p:spPr>
        <p:txBody>
          <a:bodyPr vert="horz" lIns="91056" tIns="45528" rIns="91056" bIns="45528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87533" y="6397892"/>
            <a:ext cx="4276478" cy="337871"/>
          </a:xfrm>
          <a:prstGeom prst="rect">
            <a:avLst/>
          </a:prstGeom>
        </p:spPr>
        <p:txBody>
          <a:bodyPr vert="horz" lIns="91056" tIns="45528" rIns="91056" bIns="45528" rtlCol="0" anchor="b"/>
          <a:lstStyle>
            <a:lvl1pPr algn="r">
              <a:defRPr sz="1200"/>
            </a:lvl1pPr>
          </a:lstStyle>
          <a:p>
            <a:fld id="{006D77F5-53E7-46A4-9D36-462DBDE0F5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87733" y="0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746BD-33E2-4410-8F82-87F6D73C8F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5934" y="3241620"/>
            <a:ext cx="7894446" cy="2652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639762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87733" y="6397620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50E2A-6D19-4EDD-8EF2-5157C955FD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2700" y="4612640"/>
            <a:ext cx="12176760" cy="2265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7C28BF5-9CCE-491D-A8EB-BF9E45DFEAB0}" type="datetime1">
              <a:rPr lang="en-US" altLang="zh-HK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CBE2CB-D43C-4DD1-9674-984ADA5498B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(無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991224"/>
            <a:ext cx="12192000" cy="866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0327" y="6556658"/>
            <a:ext cx="238123" cy="161583"/>
          </a:xfrm>
          <a:prstGeom prst="rect">
            <a:avLst/>
          </a:prstGeom>
          <a:solidFill>
            <a:srgbClr val="EB43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fld id="{D4AFE940-1B1F-4185-85CB-DCBE9D5CAE62}" type="slidenum">
              <a:rPr lang="zh-CN" altLang="en-US" sz="1050" smtClean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</a:fld>
            <a:endParaRPr lang="zh-CN" altLang="en-US" sz="105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bg>
      <p:bgPr>
        <a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 userDrawn="1"/>
        </p:nvGrpSpPr>
        <p:grpSpPr>
          <a:xfrm>
            <a:off x="4724400" y="257810"/>
            <a:ext cx="6647180" cy="548640"/>
            <a:chOff x="7440" y="406"/>
            <a:chExt cx="10468" cy="864"/>
          </a:xfrm>
        </p:grpSpPr>
        <p:sp>
          <p:nvSpPr>
            <p:cNvPr id="41" name="矩形 40"/>
            <p:cNvSpPr/>
            <p:nvPr userDrawn="1">
              <p:custDataLst>
                <p:tags r:id="rId2"/>
              </p:custDataLst>
            </p:nvPr>
          </p:nvSpPr>
          <p:spPr>
            <a:xfrm>
              <a:off x="7464" y="406"/>
              <a:ext cx="375" cy="62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2" name="矩形 41"/>
            <p:cNvSpPr/>
            <p:nvPr userDrawn="1">
              <p:custDataLst>
                <p:tags r:id="rId3"/>
              </p:custDataLst>
            </p:nvPr>
          </p:nvSpPr>
          <p:spPr>
            <a:xfrm>
              <a:off x="8002" y="406"/>
              <a:ext cx="168" cy="62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3" name="矩形 42"/>
            <p:cNvSpPr/>
            <p:nvPr userDrawn="1">
              <p:custDataLst>
                <p:tags r:id="rId4"/>
              </p:custDataLst>
            </p:nvPr>
          </p:nvSpPr>
          <p:spPr>
            <a:xfrm>
              <a:off x="8332" y="406"/>
              <a:ext cx="108" cy="62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4" name="矩形 43"/>
            <p:cNvSpPr/>
            <p:nvPr userDrawn="1">
              <p:custDataLst>
                <p:tags r:id="rId5"/>
              </p:custDataLst>
            </p:nvPr>
          </p:nvSpPr>
          <p:spPr>
            <a:xfrm>
              <a:off x="8599" y="406"/>
              <a:ext cx="60" cy="62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5" name="矩形 44"/>
            <p:cNvSpPr/>
            <p:nvPr userDrawn="1">
              <p:custDataLst>
                <p:tags r:id="rId6"/>
              </p:custDataLst>
            </p:nvPr>
          </p:nvSpPr>
          <p:spPr>
            <a:xfrm rot="16200000">
              <a:off x="12614" y="-4024"/>
              <a:ext cx="120" cy="104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4" descr="一張含有 文字, 圖畫, 設計 的圖片&#10;&#10;自動產生的描述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54"/>
          <a:stretch>
            <a:fillRect/>
          </a:stretch>
        </p:blipFill>
        <p:spPr>
          <a:xfrm>
            <a:off x="0" y="1231265"/>
            <a:ext cx="12193270" cy="5626735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812608" y="2280920"/>
            <a:ext cx="8568055" cy="189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1" Type="http://schemas.openxmlformats.org/officeDocument/2006/relationships/theme" Target="../theme/theme2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77" b="82409"/>
          <a:stretch>
            <a:fillRect/>
          </a:stretch>
        </p:blipFill>
        <p:spPr>
          <a:xfrm>
            <a:off x="0" y="0"/>
            <a:ext cx="3501957" cy="12062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2700" y="4612640"/>
            <a:ext cx="12176760" cy="2265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4"/>
          <p:cNvSpPr txBox="1"/>
          <p:nvPr/>
        </p:nvSpPr>
        <p:spPr>
          <a:xfrm>
            <a:off x="5728018" y="205740"/>
            <a:ext cx="4738370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可行性方案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17"/>
          <p:cNvGrpSpPr/>
          <p:nvPr/>
        </p:nvGrpSpPr>
        <p:grpSpPr>
          <a:xfrm>
            <a:off x="277186" y="1209499"/>
            <a:ext cx="295677" cy="273219"/>
            <a:chOff x="824115" y="1092753"/>
            <a:chExt cx="294490" cy="276698"/>
          </a:xfrm>
        </p:grpSpPr>
        <p:sp>
          <p:nvSpPr>
            <p:cNvPr id="5" name="矩形 4"/>
            <p:cNvSpPr/>
            <p:nvPr userDrawn="1"/>
          </p:nvSpPr>
          <p:spPr>
            <a:xfrm>
              <a:off x="824115" y="1092753"/>
              <a:ext cx="227815" cy="2278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970">
                <a:defRPr/>
              </a:pPr>
              <a:endParaRPr lang="zh-CN" altLang="en-US" sz="2000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934941" y="1185787"/>
              <a:ext cx="183664" cy="183664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970">
                <a:defRPr/>
              </a:pPr>
              <a:endParaRPr lang="zh-CN" altLang="en-US" sz="2000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49"/>
          <p:cNvSpPr txBox="1"/>
          <p:nvPr/>
        </p:nvSpPr>
        <p:spPr>
          <a:xfrm>
            <a:off x="684136" y="1132428"/>
            <a:ext cx="10834764" cy="437711"/>
          </a:xfrm>
          <a:prstGeom prst="rect">
            <a:avLst/>
          </a:prstGeom>
          <a:noFill/>
        </p:spPr>
        <p:txBody>
          <a:bodyPr wrap="square" lIns="67718" tIns="33859" rIns="67718" bIns="33859" rtlCol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与集团系统对接方案、实施成本与周期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path 18"/>
          <p:cNvSpPr/>
          <p:nvPr/>
        </p:nvSpPr>
        <p:spPr>
          <a:xfrm>
            <a:off x="337464" y="1728443"/>
            <a:ext cx="284987" cy="137159"/>
          </a:xfrm>
          <a:custGeom>
            <a:avLst/>
            <a:gdLst/>
            <a:ahLst/>
            <a:cxnLst/>
            <a:rect l="0" t="0" r="0" b="0"/>
            <a:pathLst>
              <a:path w="448" h="215">
                <a:moveTo>
                  <a:pt x="0" y="0"/>
                </a:moveTo>
                <a:lnTo>
                  <a:pt x="136" y="0"/>
                </a:lnTo>
                <a:lnTo>
                  <a:pt x="244" y="107"/>
                </a:lnTo>
                <a:lnTo>
                  <a:pt x="136" y="215"/>
                </a:lnTo>
                <a:lnTo>
                  <a:pt x="0" y="215"/>
                </a:lnTo>
                <a:lnTo>
                  <a:pt x="108" y="107"/>
                </a:lnTo>
                <a:lnTo>
                  <a:pt x="0" y="0"/>
                </a:lnTo>
              </a:path>
              <a:path w="448" h="215">
                <a:moveTo>
                  <a:pt x="204" y="0"/>
                </a:moveTo>
                <a:lnTo>
                  <a:pt x="340" y="0"/>
                </a:lnTo>
                <a:lnTo>
                  <a:pt x="448" y="107"/>
                </a:lnTo>
                <a:lnTo>
                  <a:pt x="340" y="215"/>
                </a:lnTo>
                <a:lnTo>
                  <a:pt x="204" y="215"/>
                </a:lnTo>
                <a:lnTo>
                  <a:pt x="311" y="107"/>
                </a:lnTo>
                <a:lnTo>
                  <a:pt x="204" y="0"/>
                </a:lnTo>
              </a:path>
            </a:pathLst>
          </a:custGeom>
          <a:solidFill>
            <a:srgbClr val="C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2863" y="1578548"/>
            <a:ext cx="11400790" cy="39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0060" y="2223770"/>
            <a:ext cx="116414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与集团系统对接方案</a:t>
            </a:r>
            <a:endParaRPr lang="en-US" altLang="zh-CN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/>
              <a:t>数据接口说明（数据来源、格式、频率）</a:t>
            </a:r>
            <a:r>
              <a:rPr lang="en-US" altLang="zh-CN" dirty="0"/>
              <a:t>        </a:t>
            </a:r>
            <a:r>
              <a:rPr lang="zh-CN" altLang="en-US" b="1" dirty="0">
                <a:solidFill>
                  <a:srgbClr val="FF0000"/>
                </a:solidFill>
              </a:rPr>
              <a:t>地盘多元CCTV资源，包含CCTV,无人机Cam</a:t>
            </a:r>
            <a:r>
              <a:rPr lang="zh-CN" altLang="en-US" b="1" dirty="0">
                <a:solidFill>
                  <a:srgbClr val="FF0000"/>
                </a:solidFill>
              </a:rPr>
              <a:t>等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dirty="0"/>
              <a:t>是否需要改造现有系统？改造点与工作量估算</a:t>
            </a:r>
            <a:r>
              <a:rPr lang="en-US" altLang="zh-CN" dirty="0"/>
              <a:t>   </a:t>
            </a:r>
            <a:r>
              <a:rPr lang="zh-CN" altLang="en-US" b="1" dirty="0">
                <a:solidFill>
                  <a:srgbClr val="FF0000"/>
                </a:solidFill>
              </a:rPr>
              <a:t>不需要改造现有系统</a:t>
            </a:r>
            <a:r>
              <a:rPr lang="en-US" altLang="zh-CN" b="1" dirty="0">
                <a:solidFill>
                  <a:srgbClr val="FF0000"/>
                </a:solidFill>
              </a:rPr>
              <a:t>……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dirty="0"/>
              <a:t>对接周期：可快速迭代上线的时间计划（以周为单位）</a:t>
            </a:r>
            <a:r>
              <a:rPr lang="en-US" altLang="zh-CN" dirty="0"/>
              <a:t>  </a:t>
            </a:r>
            <a:r>
              <a:rPr lang="zh-CN" altLang="en-US" b="1" dirty="0">
                <a:solidFill>
                  <a:srgbClr val="FF0000"/>
                </a:solidFill>
              </a:rPr>
              <a:t>同海宏公司合作，预计3~6个月落地并进行推广</a:t>
            </a:r>
            <a:endParaRPr lang="zh-CN" altLang="en-US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实施成本与周期</a:t>
            </a:r>
            <a:endParaRPr lang="en-US" altLang="zh-CN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开发</a:t>
            </a:r>
            <a:r>
              <a:rPr lang="en-US" altLang="zh-CN" dirty="0"/>
              <a:t>/</a:t>
            </a:r>
            <a:r>
              <a:rPr lang="zh-CN" altLang="en-US" dirty="0"/>
              <a:t>部署</a:t>
            </a:r>
            <a:r>
              <a:rPr lang="en-US" altLang="zh-CN" dirty="0"/>
              <a:t>/</a:t>
            </a:r>
            <a:r>
              <a:rPr lang="zh-CN" altLang="en-US" dirty="0"/>
              <a:t>运维成本估算（人天、硬件资源、第三方服务）</a:t>
            </a:r>
            <a:r>
              <a:rPr lang="en-US" altLang="zh-CN" dirty="0"/>
              <a:t>    </a:t>
            </a:r>
            <a:r>
              <a:rPr lang="zh-CN" altLang="en-US" b="1" dirty="0">
                <a:solidFill>
                  <a:srgbClr val="FF0000"/>
                </a:solidFill>
              </a:rPr>
              <a:t>可能主要依靠海宏？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dirty="0"/>
              <a:t>实施路径图：试点→推广计划</a:t>
            </a:r>
            <a:r>
              <a:rPr lang="en-US" altLang="zh-CN" dirty="0"/>
              <a:t>       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同海宏公司合作，优先在基础地盘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试点，预计3~6个月落地并进行推广</a:t>
            </a:r>
            <a:endParaRPr lang="zh-CN" altLang="en-US" dirty="0"/>
          </a:p>
          <a:p>
            <a:r>
              <a:rPr lang="zh-CN" altLang="en-US" dirty="0"/>
              <a:t>风险应对：数据合规、权限申请、用户培训等</a:t>
            </a:r>
            <a:r>
              <a:rPr lang="en-US" altLang="zh-CN" dirty="0"/>
              <a:t>   </a:t>
            </a:r>
            <a:r>
              <a:rPr lang="zh-CN" altLang="en-US" b="1" dirty="0">
                <a:solidFill>
                  <a:srgbClr val="FF0000"/>
                </a:solidFill>
              </a:rPr>
              <a:t>公司内部平台数据，无安全风险</a:t>
            </a:r>
            <a:endParaRPr lang="zh-CN" altLang="en-US" dirty="0"/>
          </a:p>
          <a:p>
            <a:r>
              <a:rPr lang="zh-CN" altLang="en-US" dirty="0"/>
              <a:t>建议强调“</a:t>
            </a:r>
            <a:r>
              <a:rPr lang="zh-CN" altLang="en-US" b="1" dirty="0">
                <a:solidFill>
                  <a:srgbClr val="FF0000"/>
                </a:solidFill>
              </a:rPr>
              <a:t>成本低、周期短、可快速见效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、赋能现有资源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  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4"/>
          <p:cNvSpPr txBox="1"/>
          <p:nvPr/>
        </p:nvSpPr>
        <p:spPr>
          <a:xfrm>
            <a:off x="5728018" y="205740"/>
            <a:ext cx="4738370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创新亮点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17"/>
          <p:cNvGrpSpPr/>
          <p:nvPr/>
        </p:nvGrpSpPr>
        <p:grpSpPr>
          <a:xfrm>
            <a:off x="277186" y="1209499"/>
            <a:ext cx="295677" cy="273219"/>
            <a:chOff x="824115" y="1092753"/>
            <a:chExt cx="294490" cy="276698"/>
          </a:xfrm>
        </p:grpSpPr>
        <p:sp>
          <p:nvSpPr>
            <p:cNvPr id="5" name="矩形 4"/>
            <p:cNvSpPr/>
            <p:nvPr userDrawn="1"/>
          </p:nvSpPr>
          <p:spPr>
            <a:xfrm>
              <a:off x="824115" y="1092753"/>
              <a:ext cx="227815" cy="2278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970">
                <a:defRPr/>
              </a:pPr>
              <a:endParaRPr lang="zh-CN" altLang="en-US" sz="2000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934941" y="1185787"/>
              <a:ext cx="183664" cy="183664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970">
                <a:defRPr/>
              </a:pPr>
              <a:endParaRPr lang="zh-CN" altLang="en-US" sz="2000">
                <a:solidFill>
                  <a:prstClr val="white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文本框 49"/>
          <p:cNvSpPr txBox="1"/>
          <p:nvPr/>
        </p:nvSpPr>
        <p:spPr>
          <a:xfrm>
            <a:off x="684136" y="1132428"/>
            <a:ext cx="10834764" cy="437711"/>
          </a:xfrm>
          <a:prstGeom prst="rect">
            <a:avLst/>
          </a:prstGeom>
          <a:noFill/>
        </p:spPr>
        <p:txBody>
          <a:bodyPr wrap="square" lIns="67718" tIns="33859" rIns="67718" bIns="33859" rtlCol="0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创新亮点总结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path 18"/>
          <p:cNvSpPr/>
          <p:nvPr/>
        </p:nvSpPr>
        <p:spPr>
          <a:xfrm>
            <a:off x="337464" y="1728443"/>
            <a:ext cx="284987" cy="137159"/>
          </a:xfrm>
          <a:custGeom>
            <a:avLst/>
            <a:gdLst/>
            <a:ahLst/>
            <a:cxnLst/>
            <a:rect l="0" t="0" r="0" b="0"/>
            <a:pathLst>
              <a:path w="448" h="215">
                <a:moveTo>
                  <a:pt x="0" y="0"/>
                </a:moveTo>
                <a:lnTo>
                  <a:pt x="136" y="0"/>
                </a:lnTo>
                <a:lnTo>
                  <a:pt x="244" y="107"/>
                </a:lnTo>
                <a:lnTo>
                  <a:pt x="136" y="215"/>
                </a:lnTo>
                <a:lnTo>
                  <a:pt x="0" y="215"/>
                </a:lnTo>
                <a:lnTo>
                  <a:pt x="108" y="107"/>
                </a:lnTo>
                <a:lnTo>
                  <a:pt x="0" y="0"/>
                </a:lnTo>
              </a:path>
              <a:path w="448" h="215">
                <a:moveTo>
                  <a:pt x="204" y="0"/>
                </a:moveTo>
                <a:lnTo>
                  <a:pt x="340" y="0"/>
                </a:lnTo>
                <a:lnTo>
                  <a:pt x="448" y="107"/>
                </a:lnTo>
                <a:lnTo>
                  <a:pt x="340" y="215"/>
                </a:lnTo>
                <a:lnTo>
                  <a:pt x="204" y="215"/>
                </a:lnTo>
                <a:lnTo>
                  <a:pt x="311" y="107"/>
                </a:lnTo>
                <a:lnTo>
                  <a:pt x="204" y="0"/>
                </a:lnTo>
              </a:path>
            </a:pathLst>
          </a:custGeom>
          <a:solidFill>
            <a:srgbClr val="C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2863" y="1578548"/>
            <a:ext cx="11400790" cy="39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4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9957" y="2223998"/>
            <a:ext cx="104171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创新亮点</a:t>
            </a:r>
            <a:endParaRPr lang="en-US" altLang="zh-CN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/>
              <a:t>技术创新：</a:t>
            </a:r>
            <a:r>
              <a:rPr lang="zh-CN" altLang="en-US" b="1" dirty="0">
                <a:solidFill>
                  <a:srgbClr val="FF0000"/>
                </a:solidFill>
              </a:rPr>
              <a:t>视觉大模型、</a:t>
            </a:r>
            <a:r>
              <a:rPr lang="en-US" altLang="zh-CN" b="1" dirty="0">
                <a:solidFill>
                  <a:srgbClr val="FF0000"/>
                </a:solidFill>
              </a:rPr>
              <a:t>Agent、</a:t>
            </a:r>
            <a:r>
              <a:rPr lang="zh-CN" altLang="en-US" b="1" dirty="0">
                <a:solidFill>
                  <a:srgbClr val="FF0000"/>
                </a:solidFill>
              </a:rPr>
              <a:t>自动化流程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计算机视觉</a:t>
            </a:r>
            <a:endParaRPr lang="zh-CN" altLang="en-US" dirty="0"/>
          </a:p>
          <a:p>
            <a:r>
              <a:rPr lang="zh-CN" altLang="en-US" dirty="0"/>
              <a:t>业务创新：</a:t>
            </a:r>
            <a:r>
              <a:rPr lang="zh-CN" altLang="en-US" b="1" dirty="0">
                <a:solidFill>
                  <a:srgbClr val="FF0000"/>
                </a:solidFill>
              </a:rPr>
              <a:t>现有资源AI+赋能、AI for Safety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业务场景适配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dirty="0"/>
              <a:t>复用价值：</a:t>
            </a:r>
            <a:r>
              <a:rPr lang="zh-CN" altLang="en-US" b="1" dirty="0">
                <a:solidFill>
                  <a:srgbClr val="FF0000"/>
                </a:solidFill>
              </a:rPr>
              <a:t>可复制到其他部门、单位，可推广至其他业务，如进度，商务等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DIAGRAM_VIRTUALLY_FRAME" val="{&quot;height&quot;:292.90127753320587,&quot;left&quot;:80.82370763315971,&quot;top&quot;:211.54872246679415,&quot;width&quot;:838.9717254377063}"/>
</p:tagLst>
</file>

<file path=ppt/tags/tag15.xml><?xml version="1.0" encoding="utf-8"?>
<p:tagLst xmlns:p="http://schemas.openxmlformats.org/presentationml/2006/main">
  <p:tag name="KSO_WM_DIAGRAM_VIRTUALLY_FRAME" val="{&quot;height&quot;:292.90127753320587,&quot;left&quot;:80.82370763315971,&quot;top&quot;:211.54872246679415,&quot;width&quot;:838.9717254377063}"/>
</p:tagLst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FangSong"/>
        <a:cs typeface=""/>
      </a:majorFont>
      <a:minorFont>
        <a:latin typeface="Times New Roman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WPS 演示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华文中宋</vt:lpstr>
      <vt:lpstr>微软雅黑</vt:lpstr>
      <vt:lpstr>Calibri</vt:lpstr>
      <vt:lpstr>等线</vt:lpstr>
      <vt:lpstr>仿宋</vt:lpstr>
      <vt:lpstr>Arial Unicode MS</vt:lpstr>
      <vt:lpstr>1_Office 佈景主題</vt:lpstr>
      <vt:lpstr>2_Office 佈景主題</vt:lpstr>
      <vt:lpstr>自定义设计方案</vt:lpstr>
      <vt:lpstr>PowerPoint 演示文稿</vt:lpstr>
      <vt:lpstr>PowerPoint 演示文稿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中国建筑国际集团 总裁办公会</dc:title>
  <dc:creator>林灏阳;邓凯曦</dc:creator>
  <cp:lastModifiedBy>鬚覗厵</cp:lastModifiedBy>
  <cp:revision>218</cp:revision>
  <cp:lastPrinted>2021-11-29T01:47:00Z</cp:lastPrinted>
  <dcterms:created xsi:type="dcterms:W3CDTF">2020-01-15T09:20:00Z</dcterms:created>
  <dcterms:modified xsi:type="dcterms:W3CDTF">2026-05-18T01:26:18Z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8529DF90A6884635AEAAC2B847AABED4_13</vt:lpwstr>
  </property>
  <property fmtid="{D5CDD505-2E9C-101B-9397-08002B2CF9AE}" pid="3" name="KSOProductBuildVer">
    <vt:lpwstr>2052-12.1.0.25865</vt:lpwstr>
  </property>
</Properties>
</file>