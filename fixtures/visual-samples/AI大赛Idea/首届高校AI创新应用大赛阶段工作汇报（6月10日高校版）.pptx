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309" r:id="rId5"/>
    <p:sldId id="369" r:id="rId6"/>
    <p:sldId id="353" r:id="rId7"/>
    <p:sldId id="356" r:id="rId8"/>
    <p:sldId id="328" r:id="rId9"/>
    <p:sldId id="359" r:id="rId10"/>
    <p:sldId id="363" r:id="rId11"/>
  </p:sldIdLst>
  <p:sldSz cx="12192000" cy="6858000"/>
  <p:notesSz cx="6797675" cy="992632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747775"/>
          </p15:clr>
        </p15:guide>
        <p15:guide id="2" pos="272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N J" initials="HJ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4366A1"/>
    <a:srgbClr val="F5B0AA"/>
    <a:srgbClr val="E84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232" y="152"/>
      </p:cViewPr>
      <p:guideLst>
        <p:guide orient="horz" pos="1502"/>
        <p:guide pos="2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04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281"/>
            <a:ext cx="2945659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281"/>
            <a:ext cx="2945659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27546" cy="3722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34448" y="0"/>
            <a:ext cx="3927546" cy="3722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5813" y="557213"/>
            <a:ext cx="4951412" cy="2786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6357" y="3529471"/>
            <a:ext cx="7250853" cy="334507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058943"/>
            <a:ext cx="3927546" cy="3705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34448" y="7058943"/>
            <a:ext cx="3927546" cy="3705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27546" cy="3722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34448" y="0"/>
            <a:ext cx="3927546" cy="3722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5813" y="557213"/>
            <a:ext cx="4951412" cy="2786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6357" y="3529471"/>
            <a:ext cx="7250853" cy="3345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首届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“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海之子杯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”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高校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创新应用大赛的方案设想，期待与大家共探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赋能建筑的新可能。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058943"/>
            <a:ext cx="3927546" cy="3705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34448" y="7058943"/>
            <a:ext cx="3927546" cy="3705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27546" cy="3722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34448" y="0"/>
            <a:ext cx="3927546" cy="3722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5813" y="557213"/>
            <a:ext cx="4951412" cy="2786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6357" y="3529471"/>
            <a:ext cx="7250853" cy="3345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本次大赛采用报名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→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线上初赛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→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线下研习营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+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决赛完整流程，兼具选拔精准性与招聘联动性。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6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8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日至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日开放报名与初赛作品提交，采用个人开放赛制。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7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6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日前完成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初筛加人工复筛，公示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60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人决赛名单。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7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日启动线下研习营，搭配行业培训与项目参观，同步开展校招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1V1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沟通。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7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12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日开启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20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组线下决赛，角逐各级奖项。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058943"/>
            <a:ext cx="3927546" cy="3705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34448" y="7058943"/>
            <a:ext cx="3927546" cy="3705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赛事评审分为初赛、复赛、决赛三个阶段。初赛聚焦AI基础素养与原始创新，采用个人线上提交作品的形式；复赛聚焦线上答辩与综合思辨，通过线上答辩考察选手对作品的深度理解和临场应变；决赛则聚焦AI技术落地与团队协作，以团队赛制进行线下集中开发与展示答辩，层层递进选拔优秀选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初赛开放主题，不设范围限制，鼓励所有参赛者围绕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开展原创探索，任何形式的作品都可参赛，核心考察技术创新性与场景实用性。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初赛限定个人独立参赛，每人仅可提交一件原创作品，需准备三类提交材料。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标准化项目文档需完整呈现设计逻辑，两分钟出镜讲解视频要突出作品亮点，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交互记录则作为原创性与技术落地的核心佐证。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初赛评审采用「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智能体初筛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+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人工复筛」两级机制，兼顾效率与公平，全程数据留痕可追溯。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初筛阶段锁定项目文档核心模块，重点核查功能完整性与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思维链质量。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智能体完成结构化解析与自动化评级，按评分划分三个梯队，前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60%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作品进入人工复筛，后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40%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直接终止评审，大幅提升评审效率，统一筛选标准。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055813" y="557213"/>
            <a:ext cx="4951412" cy="2786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聊完了初赛评审，接下来咱们进入赛事的关键阶段</a:t>
            </a:r>
            <a:r>
              <a:rPr lang="en-US" altLang="zh-CN" dirty="0"/>
              <a:t>——</a:t>
            </a:r>
            <a:r>
              <a:rPr lang="zh-CN" altLang="en-US" dirty="0"/>
              <a:t>线下研习营和决赛。这页给大家展示的就是线下研习营</a:t>
            </a:r>
            <a:r>
              <a:rPr lang="en-US" altLang="zh-CN" dirty="0"/>
              <a:t>+</a:t>
            </a:r>
            <a:r>
              <a:rPr lang="zh-CN" altLang="en-US" dirty="0"/>
              <a:t>决赛的日程安排，我们一起来看看具体的时间节点。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400" b="0" i="0" u="none" strike="noStrike">
                <a:solidFill>
                  <a:srgbClr val="000000"/>
                </a:solidFill>
              </a:rPr>
              <a:t>本次决赛设置梯度等级奖项，一等奖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名，单支奖金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万元；二等奖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名，单支奖金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2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万元；三等奖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5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名，单支奖金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万元，覆盖不同水平的优质作品。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
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赛事兼顾所有参赛者的付出，未获奖选手可获得优胜奖证书或参赛证明，认可每一份创意投入。最终获奖名单将于评审现场公布，由嘉宾现场颁奖并合影留念。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没有检测到内容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1A4BA-9AF3-4592-B9A4-00FB08AD17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image" Target="../media/image1.png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  <p:pic>
        <p:nvPicPr>
          <p:cNvPr id="2" name="图片 0" descr="图片1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8" Type="http://schemas.openxmlformats.org/officeDocument/2006/relationships/notesSlide" Target="../notesSlides/notesSlide2.xml"/><Relationship Id="rId47" Type="http://schemas.openxmlformats.org/officeDocument/2006/relationships/slideLayout" Target="../slideLayouts/slideLayout1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4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image" Target="../media/image3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.png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62.xml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3.png"/><Relationship Id="rId26" Type="http://schemas.openxmlformats.org/officeDocument/2006/relationships/tags" Target="../tags/tag79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image" Target="../media/image9.svg"/><Relationship Id="rId20" Type="http://schemas.openxmlformats.org/officeDocument/2006/relationships/image" Target="../media/image8.png"/><Relationship Id="rId2" Type="http://schemas.openxmlformats.org/officeDocument/2006/relationships/tags" Target="../tags/tag61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6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../media/image3.png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94.xml"/><Relationship Id="rId23" Type="http://schemas.openxmlformats.org/officeDocument/2006/relationships/image" Target="../media/image17.svg"/><Relationship Id="rId22" Type="http://schemas.openxmlformats.org/officeDocument/2006/relationships/image" Target="../media/image16.png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81.xml"/><Relationship Id="rId19" Type="http://schemas.openxmlformats.org/officeDocument/2006/relationships/tags" Target="../tags/tag91.xml"/><Relationship Id="rId18" Type="http://schemas.openxmlformats.org/officeDocument/2006/relationships/image" Target="../media/image15.svg"/><Relationship Id="rId17" Type="http://schemas.openxmlformats.org/officeDocument/2006/relationships/image" Target="../media/image14.png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tags" Target="../tags/tag86.xml"/><Relationship Id="rId1" Type="http://schemas.openxmlformats.org/officeDocument/2006/relationships/tags" Target="../tags/tag80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7.xml"/><Relationship Id="rId3" Type="http://schemas.openxmlformats.org/officeDocument/2006/relationships/image" Target="../media/image3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image" Target="../media/image3.png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1524000"/>
            <a:ext cx="109728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中国建筑国际集团</a:t>
            </a:r>
            <a:endParaRPr lang="en-US" altLang="zh-CN" sz="3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首届“海之子杯”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智能体应用大赛</a:t>
            </a:r>
            <a:endParaRPr lang="zh-CN" altLang="en-US" sz="3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150360"/>
            <a:ext cx="10972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spcBef>
                <a:spcPts val="1000"/>
              </a:spcBef>
              <a:buSzTx/>
              <a:defRPr/>
            </a:pPr>
            <a:r>
              <a:rPr lang="en-US" sz="2400" b="1" i="0" u="none" strike="noStrik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2026年6月10</a:t>
            </a:r>
            <a:r>
              <a:rPr lang="zh-CN" altLang="en-US" sz="2400" b="1" i="0" u="none" strike="noStrik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</a:t>
            </a:r>
            <a:endParaRPr lang="zh-CN" altLang="en-US" sz="2400" b="1" i="0" u="none" strike="noStrik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>
            <p:custDataLst>
              <p:tags r:id="rId1"/>
            </p:custDataLst>
          </p:nvPr>
        </p:nvSpPr>
        <p:spPr>
          <a:xfrm>
            <a:off x="-635" y="4834890"/>
            <a:ext cx="12192635" cy="1360805"/>
          </a:xfrm>
          <a:prstGeom prst="rect">
            <a:avLst/>
          </a:prstGeom>
          <a:solidFill>
            <a:srgbClr val="F5B0AA">
              <a:alpha val="10000"/>
            </a:srgbClr>
          </a:solidFill>
          <a:ln>
            <a:noFill/>
            <a:prstDash val="lgDash"/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31750"/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5" name="AutoShape 20"/>
          <p:cNvSpPr/>
          <p:nvPr>
            <p:custDataLst>
              <p:tags r:id="rId2"/>
            </p:custDataLst>
          </p:nvPr>
        </p:nvSpPr>
        <p:spPr>
          <a:xfrm>
            <a:off x="9646285" y="2332990"/>
            <a:ext cx="2108200" cy="250253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54050" y="1487170"/>
            <a:ext cx="9347835" cy="6019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大赛将采用</a:t>
            </a:r>
            <a:r>
              <a:rPr lang="en-US" sz="16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初赛</a:t>
            </a:r>
            <a:r>
              <a:rPr lang="zh-CN" altLang="en-US" sz="16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作品提交</a:t>
            </a:r>
            <a:r>
              <a:rPr 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→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线上复赛</a:t>
            </a:r>
            <a:r>
              <a:rPr 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→</a:t>
            </a:r>
            <a:r>
              <a:rPr 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“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线下研习营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+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决赛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”</a:t>
            </a: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的模式，确保赛事节奏紧凑、选拔精准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。</a:t>
            </a:r>
            <a:endParaRPr lang="zh-CN" altLang="en-US" sz="1600" b="0" i="0" u="none" strike="noStrike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2714625" y="2242185"/>
            <a:ext cx="2108200" cy="256857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2714625" y="2266315"/>
            <a:ext cx="2108200" cy="62611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2714625" y="2393315"/>
            <a:ext cx="210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2.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初赛作品评审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（与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初赛作品提交同步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进行）</a:t>
            </a:r>
            <a:endParaRPr lang="zh-CN" altLang="en-US" sz="1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5048885" y="2332990"/>
            <a:ext cx="2108200" cy="250253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048885" y="2266315"/>
            <a:ext cx="2108200" cy="6350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5048885" y="2393315"/>
            <a:ext cx="21018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3.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线上复赛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（</a:t>
            </a:r>
            <a:r>
              <a:rPr 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7月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中旬）</a:t>
            </a:r>
            <a:endParaRPr lang="zh-CN" altLang="en-US" sz="1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2841625" y="2923540"/>
            <a:ext cx="1854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线上专业评定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：针对初赛提交作品，</a:t>
            </a: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AI智能体初筛+人工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评审团专业</a:t>
            </a:r>
            <a:r>
              <a:rPr 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复筛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选出表现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优异的选手进入复赛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347585" y="2332990"/>
            <a:ext cx="2108200" cy="250253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347585" y="2266315"/>
            <a:ext cx="2108200" cy="635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411085" y="2393315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4.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公布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决赛入围名单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（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7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月下旬）</a:t>
            </a:r>
            <a:endParaRPr lang="zh-CN" alt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9646285" y="2266315"/>
            <a:ext cx="2108200" cy="6350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AutoShape 19"/>
          <p:cNvSpPr/>
          <p:nvPr>
            <p:custDataLst>
              <p:tags r:id="rId14"/>
            </p:custDataLst>
          </p:nvPr>
        </p:nvSpPr>
        <p:spPr>
          <a:xfrm>
            <a:off x="9773285" y="3155315"/>
            <a:ext cx="1854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endParaRPr lang="en-US" sz="11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27" name="object 11"/>
          <p:cNvSpPr txBox="1"/>
          <p:nvPr>
            <p:custDataLst>
              <p:tags r:id="rId15"/>
            </p:custDataLst>
          </p:nvPr>
        </p:nvSpPr>
        <p:spPr>
          <a:xfrm>
            <a:off x="7464425" y="401320"/>
            <a:ext cx="405193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 eaLnBrk="0" hangingPunct="0">
              <a:buClrTx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赛程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10"/>
          <p:cNvSpPr/>
          <p:nvPr>
            <p:custDataLst>
              <p:tags r:id="rId16"/>
            </p:custDataLst>
          </p:nvPr>
        </p:nvSpPr>
        <p:spPr>
          <a:xfrm>
            <a:off x="7476490" y="833755"/>
            <a:ext cx="3923030" cy="762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9" name="AutoShape 14"/>
          <p:cNvSpPr/>
          <p:nvPr>
            <p:custDataLst>
              <p:tags r:id="rId18"/>
            </p:custDataLst>
          </p:nvPr>
        </p:nvSpPr>
        <p:spPr>
          <a:xfrm>
            <a:off x="9709785" y="2393315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5.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线下研习营</a:t>
            </a:r>
            <a:r>
              <a:rPr lang="en-US" altLang="zh-CN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+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决赛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（</a:t>
            </a: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7</a:t>
            </a:r>
            <a:r>
              <a:rPr lang="zh-CN" alt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月底，为期</a:t>
            </a:r>
            <a:r>
              <a:rPr lang="en-US" altLang="zh-CN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3</a:t>
            </a:r>
            <a:r>
              <a:rPr lang="zh-CN" alt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天）</a:t>
            </a:r>
            <a:endParaRPr lang="zh-CN" alt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30" name="AutoShape 15"/>
          <p:cNvSpPr/>
          <p:nvPr>
            <p:custDataLst>
              <p:tags r:id="rId19"/>
            </p:custDataLst>
          </p:nvPr>
        </p:nvSpPr>
        <p:spPr>
          <a:xfrm>
            <a:off x="9679940" y="2923540"/>
            <a:ext cx="2044700" cy="1837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决赛赛题：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基于公司现有AI员工场景进行重做与迭代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AI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知识培训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+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研学参观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线下小组赛：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60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人组成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20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，展示答辩，评选颁奖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31" name="AutoShape 11"/>
          <p:cNvSpPr/>
          <p:nvPr>
            <p:custDataLst>
              <p:tags r:id="rId20"/>
            </p:custDataLst>
          </p:nvPr>
        </p:nvSpPr>
        <p:spPr>
          <a:xfrm>
            <a:off x="7474585" y="2923540"/>
            <a:ext cx="1854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官方渠道公布晋级名单</a:t>
            </a:r>
            <a:endParaRPr lang="zh-CN" altLang="en-US" sz="1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筛选</a:t>
            </a:r>
            <a:r>
              <a:rPr 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60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人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进入决赛，同步通知决赛相关安排，并做好差旅、住宿相关安排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比赛组队：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同日开始，每组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人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32" name="AutoShape 2"/>
          <p:cNvSpPr/>
          <p:nvPr/>
        </p:nvSpPr>
        <p:spPr>
          <a:xfrm>
            <a:off x="365125" y="1010285"/>
            <a:ext cx="3773805" cy="47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赛程整体规划</a:t>
            </a:r>
            <a:endParaRPr lang="zh-CN" altLang="en-US" sz="1800" b="1" i="0" u="none" strike="noStrike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0"/>
          <p:cNvSpPr/>
          <p:nvPr>
            <p:custDataLst>
              <p:tags r:id="rId21"/>
            </p:custDataLst>
          </p:nvPr>
        </p:nvSpPr>
        <p:spPr>
          <a:xfrm>
            <a:off x="310515" y="2324735"/>
            <a:ext cx="2153920" cy="250253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1"/>
          <p:cNvSpPr/>
          <p:nvPr>
            <p:custDataLst>
              <p:tags r:id="rId22"/>
            </p:custDataLst>
          </p:nvPr>
        </p:nvSpPr>
        <p:spPr>
          <a:xfrm>
            <a:off x="310515" y="2258060"/>
            <a:ext cx="2150110" cy="6350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22"/>
          <p:cNvSpPr/>
          <p:nvPr>
            <p:custDataLst>
              <p:tags r:id="rId23"/>
            </p:custDataLst>
          </p:nvPr>
        </p:nvSpPr>
        <p:spPr>
          <a:xfrm>
            <a:off x="374015" y="238506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1.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初赛报名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+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作品提交</a:t>
            </a:r>
            <a:endParaRPr lang="en-US" sz="1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（</a:t>
            </a:r>
            <a:r>
              <a:rPr 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6月12日-7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月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12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日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）</a:t>
            </a:r>
            <a:endParaRPr lang="zh-CN" altLang="en-US" sz="1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63" name="Shape 10"/>
          <p:cNvSpPr/>
          <p:nvPr>
            <p:custDataLst>
              <p:tags r:id="rId24"/>
            </p:custDataLst>
          </p:nvPr>
        </p:nvSpPr>
        <p:spPr>
          <a:xfrm>
            <a:off x="1261110" y="5144770"/>
            <a:ext cx="215900" cy="215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sp>
        <p:nvSpPr>
          <p:cNvPr id="69" name="Shape 28"/>
          <p:cNvSpPr/>
          <p:nvPr>
            <p:custDataLst>
              <p:tags r:id="rId25"/>
            </p:custDataLst>
          </p:nvPr>
        </p:nvSpPr>
        <p:spPr>
          <a:xfrm>
            <a:off x="3578860" y="5145405"/>
            <a:ext cx="215900" cy="215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sp>
        <p:nvSpPr>
          <p:cNvPr id="72" name="Shape 46"/>
          <p:cNvSpPr/>
          <p:nvPr>
            <p:custDataLst>
              <p:tags r:id="rId26"/>
            </p:custDataLst>
          </p:nvPr>
        </p:nvSpPr>
        <p:spPr>
          <a:xfrm>
            <a:off x="5909945" y="5143500"/>
            <a:ext cx="215900" cy="215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sp>
        <p:nvSpPr>
          <p:cNvPr id="75" name="Shape 64"/>
          <p:cNvSpPr/>
          <p:nvPr>
            <p:custDataLst>
              <p:tags r:id="rId27"/>
            </p:custDataLst>
          </p:nvPr>
        </p:nvSpPr>
        <p:spPr>
          <a:xfrm>
            <a:off x="8261350" y="5143500"/>
            <a:ext cx="215900" cy="215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sp>
        <p:nvSpPr>
          <p:cNvPr id="78" name="Shape 82"/>
          <p:cNvSpPr/>
          <p:nvPr>
            <p:custDataLst>
              <p:tags r:id="rId28"/>
            </p:custDataLst>
          </p:nvPr>
        </p:nvSpPr>
        <p:spPr>
          <a:xfrm>
            <a:off x="10576560" y="5143500"/>
            <a:ext cx="215900" cy="2159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cxnSp>
        <p:nvCxnSpPr>
          <p:cNvPr id="36" name="Connector 12"/>
          <p:cNvCxnSpPr/>
          <p:nvPr>
            <p:custDataLst>
              <p:tags r:id="rId29"/>
            </p:custDataLst>
          </p:nvPr>
        </p:nvCxnSpPr>
        <p:spPr>
          <a:xfrm rot="21576455">
            <a:off x="516255" y="5237480"/>
            <a:ext cx="185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Connector 21"/>
          <p:cNvCxnSpPr/>
          <p:nvPr>
            <p:custDataLst>
              <p:tags r:id="rId30"/>
            </p:custDataLst>
          </p:nvPr>
        </p:nvCxnSpPr>
        <p:spPr>
          <a:xfrm rot="21576455">
            <a:off x="3538855" y="5237480"/>
            <a:ext cx="185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Connector 30"/>
          <p:cNvCxnSpPr/>
          <p:nvPr>
            <p:custDataLst>
              <p:tags r:id="rId31"/>
            </p:custDataLst>
          </p:nvPr>
        </p:nvCxnSpPr>
        <p:spPr>
          <a:xfrm rot="21576455">
            <a:off x="6297295" y="5237480"/>
            <a:ext cx="185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Connector 39"/>
          <p:cNvCxnSpPr/>
          <p:nvPr>
            <p:custDataLst>
              <p:tags r:id="rId32"/>
            </p:custDataLst>
          </p:nvPr>
        </p:nvCxnSpPr>
        <p:spPr>
          <a:xfrm rot="21576455">
            <a:off x="8507095" y="5237480"/>
            <a:ext cx="185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Connector 48"/>
          <p:cNvCxnSpPr/>
          <p:nvPr>
            <p:custDataLst>
              <p:tags r:id="rId33"/>
            </p:custDataLst>
          </p:nvPr>
        </p:nvCxnSpPr>
        <p:spPr>
          <a:xfrm rot="21576455">
            <a:off x="9761855" y="5237480"/>
            <a:ext cx="185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Shape 11"/>
          <p:cNvSpPr/>
          <p:nvPr>
            <p:custDataLst>
              <p:tags r:id="rId34"/>
            </p:custDataLst>
          </p:nvPr>
        </p:nvSpPr>
        <p:spPr>
          <a:xfrm>
            <a:off x="1296670" y="5181600"/>
            <a:ext cx="146050" cy="14605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0" name="Shape 29"/>
          <p:cNvSpPr/>
          <p:nvPr>
            <p:custDataLst>
              <p:tags r:id="rId35"/>
            </p:custDataLst>
          </p:nvPr>
        </p:nvSpPr>
        <p:spPr>
          <a:xfrm>
            <a:off x="3609975" y="5176520"/>
            <a:ext cx="146050" cy="14605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3" name="Shape 47"/>
          <p:cNvSpPr/>
          <p:nvPr>
            <p:custDataLst>
              <p:tags r:id="rId36"/>
            </p:custDataLst>
          </p:nvPr>
        </p:nvSpPr>
        <p:spPr>
          <a:xfrm>
            <a:off x="5942965" y="5176520"/>
            <a:ext cx="146050" cy="14605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6" name="Shape 65"/>
          <p:cNvSpPr/>
          <p:nvPr>
            <p:custDataLst>
              <p:tags r:id="rId37"/>
            </p:custDataLst>
          </p:nvPr>
        </p:nvSpPr>
        <p:spPr>
          <a:xfrm>
            <a:off x="8299450" y="5176520"/>
            <a:ext cx="146050" cy="146050"/>
          </a:xfrm>
          <a:prstGeom prst="ellipse">
            <a:avLst/>
          </a:prstGeom>
          <a:solidFill>
            <a:srgbClr val="C00000"/>
          </a:solidFill>
        </p:spPr>
      </p:sp>
      <p:sp>
        <p:nvSpPr>
          <p:cNvPr id="79" name="Shape 83"/>
          <p:cNvSpPr/>
          <p:nvPr>
            <p:custDataLst>
              <p:tags r:id="rId38"/>
            </p:custDataLst>
          </p:nvPr>
        </p:nvSpPr>
        <p:spPr>
          <a:xfrm>
            <a:off x="10614660" y="5176520"/>
            <a:ext cx="146050" cy="146050"/>
          </a:xfrm>
          <a:prstGeom prst="ellipse">
            <a:avLst/>
          </a:prstGeom>
          <a:solidFill>
            <a:srgbClr val="C00000"/>
          </a:solidFill>
        </p:spPr>
      </p:sp>
      <p:cxnSp>
        <p:nvCxnSpPr>
          <p:cNvPr id="80" name="直接连接符 79"/>
          <p:cNvCxnSpPr/>
          <p:nvPr>
            <p:custDataLst>
              <p:tags r:id="rId39"/>
            </p:custDataLst>
          </p:nvPr>
        </p:nvCxnSpPr>
        <p:spPr>
          <a:xfrm flipV="1">
            <a:off x="254635" y="5241925"/>
            <a:ext cx="11583670" cy="9525"/>
          </a:xfrm>
          <a:prstGeom prst="line">
            <a:avLst/>
          </a:prstGeom>
          <a:ln>
            <a:solidFill>
              <a:srgbClr val="C00000"/>
            </a:solidFill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AutoShape 9"/>
          <p:cNvSpPr/>
          <p:nvPr>
            <p:custDataLst>
              <p:tags r:id="rId40"/>
            </p:custDataLst>
          </p:nvPr>
        </p:nvSpPr>
        <p:spPr>
          <a:xfrm>
            <a:off x="488950" y="5438775"/>
            <a:ext cx="1854200" cy="47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大赛正式启动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日前）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18"/>
          <p:cNvSpPr/>
          <p:nvPr>
            <p:custDataLst>
              <p:tags r:id="rId41"/>
            </p:custDataLst>
          </p:nvPr>
        </p:nvSpPr>
        <p:spPr>
          <a:xfrm>
            <a:off x="2800350" y="5438775"/>
            <a:ext cx="1854200" cy="47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初赛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作品提交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r>
              <a:rPr lang="en-US" altLang="zh-CN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-7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日）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27"/>
          <p:cNvSpPr/>
          <p:nvPr>
            <p:custDataLst>
              <p:tags r:id="rId42"/>
            </p:custDataLst>
          </p:nvPr>
        </p:nvSpPr>
        <p:spPr>
          <a:xfrm>
            <a:off x="5111750" y="5438775"/>
            <a:ext cx="2028825" cy="47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复赛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中旬）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36"/>
          <p:cNvSpPr/>
          <p:nvPr>
            <p:custDataLst>
              <p:tags r:id="rId43"/>
            </p:custDataLst>
          </p:nvPr>
        </p:nvSpPr>
        <p:spPr>
          <a:xfrm>
            <a:off x="7423150" y="5438775"/>
            <a:ext cx="1854200" cy="47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公布决赛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名单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月下旬）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45"/>
          <p:cNvSpPr/>
          <p:nvPr>
            <p:custDataLst>
              <p:tags r:id="rId44"/>
            </p:custDataLst>
          </p:nvPr>
        </p:nvSpPr>
        <p:spPr>
          <a:xfrm>
            <a:off x="9734550" y="5438775"/>
            <a:ext cx="1854200" cy="47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深圳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决赛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底）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5"/>
            </p:custDataLst>
          </p:nvPr>
        </p:nvSpPr>
        <p:spPr>
          <a:xfrm>
            <a:off x="365125" y="2923540"/>
            <a:ext cx="202311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145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官网注册报名</a:t>
            </a:r>
            <a:endParaRPr lang="zh-CN" altLang="en-US" sz="1200" b="1" i="0" u="none" strike="noStrike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初赛赛题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（线上个人赛）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：围绕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智能体，主题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不限</a:t>
            </a:r>
            <a:endParaRPr lang="zh-CN" altLang="en-US" sz="1200" b="0" i="0" u="none" strike="noStrike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官网提交：</a:t>
            </a:r>
            <a:r>
              <a:rPr lang="zh-CN" altLang="en-US" sz="12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项目方案、智能体Demo及核心演示视频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。</a:t>
            </a:r>
            <a:endParaRPr lang="zh-CN" altLang="en-US" sz="1200" b="0" i="0" u="none" strike="noStrike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zh-CN" altLang="en-US" sz="1200" b="0" i="0" u="none" strike="noStrike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  <p:sp>
        <p:nvSpPr>
          <p:cNvPr id="2" name="AutoShape 11"/>
          <p:cNvSpPr/>
          <p:nvPr>
            <p:custDataLst>
              <p:tags r:id="rId46"/>
            </p:custDataLst>
          </p:nvPr>
        </p:nvSpPr>
        <p:spPr>
          <a:xfrm>
            <a:off x="5168265" y="2923540"/>
            <a:ext cx="1988820" cy="1903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线上答辩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：初赛晋级的选手，线上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展示个人作品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，并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接受专业评委的提问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  <a:p>
            <a:pPr marL="171450" lvl="0" indent="-171450" algn="l" eaLnBrk="1" fontAlgn="auto" latinLnBrk="0" hangingPunct="1">
              <a:lnSpc>
                <a:spcPct val="150000"/>
              </a:lnSpc>
              <a:spcBef>
                <a:spcPts val="3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综合评定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：结合初赛评审分数和复赛表现进行综合评定，确定决赛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中宋" panose="02010600040101010101" charset="-122"/>
              </a:rPr>
              <a:t>名单。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635" y="1587500"/>
            <a:ext cx="1117536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本次赛事评审分为初赛、复赛、决赛三个阶段，各阶段聚焦不同能力维度，采用差异化赛制形式，层层递进选拔优秀选手，全面考察选手的AI基础素养、综合思辨能力与AI技术落地能力。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2574925"/>
            <a:ext cx="3556000" cy="3565525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DC262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08000" y="2574925"/>
            <a:ext cx="3556000" cy="50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98500" y="2765425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初赛阶段:</a:t>
            </a:r>
            <a:endParaRPr lang="en-US" sz="1600" b="1" i="0" u="none" strike="noStrike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25000"/>
              </a:lnSpc>
              <a:buSzTx/>
              <a:defRPr/>
            </a:pPr>
            <a:r>
              <a:rPr lang="en-US" sz="16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聚焦AI基础素养与原始创新能力</a:t>
            </a:r>
            <a:endParaRPr lang="en-US" sz="1600" b="1" i="0" u="none" strike="noStrike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98500" y="3532505"/>
            <a:ext cx="3175000" cy="1813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关注重点：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考察选手的AI基础认知、算法理解及原始创新思维，鼓励天马行空的创意表达，挖掘选手对AI技术的底层理解与发散性应用构想。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赛制形式：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个人赛制，线上提交项目方案、智能体Demo及核心演示视频。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4318000" y="2574925"/>
            <a:ext cx="3556000" cy="3565525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4318000" y="2574925"/>
            <a:ext cx="355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508500" y="2765425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复赛阶段</a:t>
            </a:r>
            <a:r>
              <a:rPr lang="zh-CN" altLang="en-US" sz="1600" b="1" i="0" u="none" strike="noStrike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sz="1600" b="1" i="0" u="none" strike="noStrike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聚焦综合思辨</a:t>
            </a:r>
            <a:r>
              <a:rPr lang="zh-CN" altLang="en-US" sz="1600" b="1" i="0" u="none" strike="noStrike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能力</a:t>
            </a:r>
            <a:endParaRPr lang="zh-CN" altLang="en-US" sz="1600" b="1" i="0" u="none" strike="noStrike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4508500" y="3532505"/>
            <a:ext cx="3175000" cy="1816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关注重点：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考察选手对作品的深度理解</a:t>
            </a:r>
            <a:r>
              <a:rPr lang="zh-CN" alt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逻辑表达能力。评委将针对作品的技术细节、创新点及可行性进行深度提问，检验选手的综合思辨与专业素养。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赛制形式：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个人赛制，线上答辩。选手在线上展示个人作品，并接受专业评委的提问。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8128000" y="2574925"/>
            <a:ext cx="3556000" cy="3565525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128000" y="2574925"/>
            <a:ext cx="355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318500" y="2765425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决赛阶段</a:t>
            </a:r>
            <a:r>
              <a:rPr lang="zh-CN" altLang="en-US" sz="16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sz="1600" b="1" i="0" u="none" strike="noStrike">
              <a:solidFill>
                <a:srgbClr val="C2410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聚焦</a:t>
            </a:r>
            <a:r>
              <a:rPr lang="en-US" altLang="zh-CN" sz="16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6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技术落地应用</a:t>
            </a:r>
            <a:r>
              <a:rPr lang="zh-CN" altLang="en-US" sz="16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能力</a:t>
            </a:r>
            <a:endParaRPr lang="zh-CN" altLang="en-US" sz="1600" b="1" i="0" u="none" strike="noStrike">
              <a:solidFill>
                <a:srgbClr val="C2410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318500" y="3532505"/>
            <a:ext cx="3175000" cy="18122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关注重点：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聚焦技术落地应用、快速学习新工具能力及团队协作水平，重点考察选手将AI技术能力转化为实际业务解决方案的综合素养与执行效率。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赛制形式：</a:t>
            </a:r>
            <a:r>
              <a:rPr lang="en-US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团队赛制（3人/组），组委会统一组织组队。限时1天线下集中开发，基于公司现有AI场景进行方案重做与迭代优化，最终完成线下展示答辩。</a:t>
            </a:r>
            <a:endParaRPr lang="en-US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4" name="AutoShape 2"/>
          <p:cNvSpPr/>
          <p:nvPr/>
        </p:nvSpPr>
        <p:spPr>
          <a:xfrm>
            <a:off x="365125" y="1010285"/>
            <a:ext cx="9474200" cy="47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285750" indent="-285750">
              <a:lnSpc>
                <a:spcPct val="125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初赛、复赛、决赛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三场角逐竞技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object 11"/>
          <p:cNvSpPr txBox="1"/>
          <p:nvPr>
            <p:custDataLst>
              <p:tags r:id="rId13"/>
            </p:custDataLst>
          </p:nvPr>
        </p:nvSpPr>
        <p:spPr>
          <a:xfrm>
            <a:off x="7464425" y="401320"/>
            <a:ext cx="405193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10"/>
          <p:cNvSpPr/>
          <p:nvPr>
            <p:custDataLst>
              <p:tags r:id="rId14"/>
            </p:custDataLst>
          </p:nvPr>
        </p:nvSpPr>
        <p:spPr>
          <a:xfrm>
            <a:off x="7476490" y="833755"/>
            <a:ext cx="3923030" cy="76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1651000"/>
            <a:ext cx="11176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76200" cy="1206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7526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latinLnBrk="0" hangingPunct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1.初赛赛题：开放主题，聚焦</a:t>
            </a:r>
            <a:r>
              <a:rPr lang="zh-CN" altLang="en-US" sz="18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智能体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创新</a:t>
            </a: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应用</a:t>
            </a:r>
            <a:endParaRPr lang="en-US" sz="1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本次初赛不设具体命题，不限工具与开发平台。基于智能体自由探索多元化、跨领域、前瞻性的</a:t>
            </a:r>
            <a:r>
              <a:rPr lang="en-US" altLang="zh-CN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应用方向。可以聚焦</a:t>
            </a:r>
            <a:r>
              <a:rPr lang="zh-CN" altLang="en-US" sz="14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技术应用、流程提效、职业赋能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等实用工具，也可以围绕</a:t>
            </a:r>
            <a:r>
              <a:rPr lang="zh-CN" altLang="en-US" sz="14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智能建造、人居体验、未来城市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等广阔领域大胆畅想、自由创作。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31115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3111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2131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latinLnBrk="0" hangingPunct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2.参赛形式：仅限个人独立参赛</a:t>
            </a:r>
            <a:endParaRPr lang="en-US" sz="1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本次初赛采用个人赛制，每位参赛者仅限提交1件作品，需确保作品成果的独立性、原创性与可追溯性，严禁抄袭、盗用他人成果，作品需为参赛者本人独立构思与完成的原创作品。</a:t>
            </a:r>
            <a:endParaRPr 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"/>
            </p:custDataLst>
          </p:nvPr>
        </p:nvSpPr>
        <p:spPr>
          <a:xfrm>
            <a:off x="508000" y="4572000"/>
            <a:ext cx="3632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508000" y="4572000"/>
            <a:ext cx="3632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1143000" y="4724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材料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一：项目</a:t>
            </a:r>
            <a:r>
              <a:rPr lang="zh-CN" altLang="en-US" sz="1600" b="1" i="0" u="none" strike="noStrike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方案</a:t>
            </a:r>
            <a:endParaRPr lang="zh-CN" altLang="en-US" sz="1600" b="1" i="0" u="none" strike="noStrike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7"/>
            </p:custDataLst>
          </p:nvPr>
        </p:nvCxnSpPr>
        <p:spPr>
          <a:xfrm rot="-13428">
            <a:off x="698512" y="5200650"/>
            <a:ext cx="3251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762000" y="5219700"/>
            <a:ext cx="325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使用</a:t>
            </a:r>
            <a:r>
              <a:rPr lang="zh-CN" altLang="en-US" sz="13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组委会标准模板</a:t>
            </a:r>
            <a:r>
              <a:rPr lang="en-US" sz="13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，涵盖功能介绍、技术细节与AI思维链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等</a:t>
            </a:r>
            <a:r>
              <a:rPr lang="en-US" sz="13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，完整呈现设计逻辑，结构清晰、内容详实。</a:t>
            </a:r>
            <a:endParaRPr lang="en-US" sz="13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4406900" y="4572000"/>
            <a:ext cx="3632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4406900" y="4572000"/>
            <a:ext cx="3632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7400" y="4762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4"/>
            </p:custDataLst>
          </p:nvPr>
        </p:nvSpPr>
        <p:spPr>
          <a:xfrm>
            <a:off x="5041900" y="4724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材料</a:t>
            </a:r>
            <a:r>
              <a:rPr 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二：</a:t>
            </a: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智能体</a:t>
            </a:r>
            <a:r>
              <a:rPr lang="en-US" altLang="zh-CN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r>
              <a:rPr lang="en-US" altLang="zh-CN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emo</a:t>
            </a:r>
            <a:endParaRPr lang="en-US" altLang="zh-CN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>
            <p:custDataLst>
              <p:tags r:id="rId15"/>
            </p:custDataLst>
          </p:nvPr>
        </p:nvCxnSpPr>
        <p:spPr>
          <a:xfrm rot="-13428">
            <a:off x="4597412" y="5200650"/>
            <a:ext cx="3251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16"/>
            </p:custDataLst>
          </p:nvPr>
        </p:nvSpPr>
        <p:spPr>
          <a:xfrm>
            <a:off x="4629150" y="5207000"/>
            <a:ext cx="325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提交可访问的</a:t>
            </a:r>
            <a:r>
              <a:rPr lang="zh-CN" altLang="en-US" sz="13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智能体链接</a:t>
            </a:r>
            <a:r>
              <a:rPr lang="zh-CN" altLang="en-US" sz="130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或可运行代码包</a:t>
            </a:r>
            <a:r>
              <a:rPr lang="zh-CN" altLang="en-US" sz="13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，附简明使用说明，确保评委能直观体验作品核心功能。</a:t>
            </a:r>
            <a:endParaRPr lang="zh-CN" altLang="en-US" sz="13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7"/>
            </p:custDataLst>
          </p:nvPr>
        </p:nvSpPr>
        <p:spPr>
          <a:xfrm>
            <a:off x="8178800" y="4572000"/>
            <a:ext cx="3632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8"/>
            </p:custDataLst>
          </p:nvPr>
        </p:nvSpPr>
        <p:spPr>
          <a:xfrm>
            <a:off x="8178800" y="4572000"/>
            <a:ext cx="3632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69300" y="4762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8813800" y="4724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材料三</a:t>
            </a:r>
            <a:r>
              <a:rPr 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</a:t>
            </a: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展示</a:t>
            </a:r>
            <a:r>
              <a:rPr lang="zh-CN" altLang="en-US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视频</a:t>
            </a:r>
            <a:endParaRPr lang="zh-CN" alt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26" name="Connector 26"/>
          <p:cNvCxnSpPr/>
          <p:nvPr>
            <p:custDataLst>
              <p:tags r:id="rId23"/>
            </p:custDataLst>
          </p:nvPr>
        </p:nvCxnSpPr>
        <p:spPr>
          <a:xfrm rot="-13428">
            <a:off x="8369312" y="5200650"/>
            <a:ext cx="3251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8369300" y="5308600"/>
            <a:ext cx="325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时长约2分钟，分辨率≥720p，MP4格式且小于500MB。</a:t>
            </a:r>
            <a:r>
              <a:rPr lang="en-US" sz="13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需参赛者出镜讲解作品核心</a:t>
            </a:r>
            <a:r>
              <a:rPr lang="en-US" sz="13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en-US" sz="1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增强真实性与感染力，清晰展示作品功能与创新亮点。</a:t>
            </a:r>
            <a:endParaRPr lang="en-US" sz="13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2" name="AutoShape 2"/>
          <p:cNvSpPr/>
          <p:nvPr/>
        </p:nvSpPr>
        <p:spPr>
          <a:xfrm>
            <a:off x="365125" y="1010285"/>
            <a:ext cx="9474200" cy="47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初赛作品提交（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—7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日）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object 11"/>
          <p:cNvSpPr txBox="1"/>
          <p:nvPr>
            <p:custDataLst>
              <p:tags r:id="rId25"/>
            </p:custDataLst>
          </p:nvPr>
        </p:nvSpPr>
        <p:spPr>
          <a:xfrm>
            <a:off x="7464425" y="401320"/>
            <a:ext cx="405193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线上初赛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10"/>
          <p:cNvSpPr/>
          <p:nvPr>
            <p:custDataLst>
              <p:tags r:id="rId26"/>
            </p:custDataLst>
          </p:nvPr>
        </p:nvSpPr>
        <p:spPr>
          <a:xfrm>
            <a:off x="7476490" y="833755"/>
            <a:ext cx="3923030" cy="762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11"/>
          <p:cNvSpPr txBox="1"/>
          <p:nvPr>
            <p:custDataLst>
              <p:tags r:id="rId1"/>
            </p:custDataLst>
          </p:nvPr>
        </p:nvSpPr>
        <p:spPr>
          <a:xfrm>
            <a:off x="7464425" y="401320"/>
            <a:ext cx="405193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线上初赛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bject 10"/>
          <p:cNvSpPr/>
          <p:nvPr>
            <p:custDataLst>
              <p:tags r:id="rId2"/>
            </p:custDataLst>
          </p:nvPr>
        </p:nvSpPr>
        <p:spPr>
          <a:xfrm>
            <a:off x="7476490" y="833755"/>
            <a:ext cx="3923030" cy="7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AutoShape 2"/>
          <p:cNvSpPr/>
          <p:nvPr/>
        </p:nvSpPr>
        <p:spPr>
          <a:xfrm>
            <a:off x="365125" y="1010285"/>
            <a:ext cx="9474200" cy="47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线上复赛（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7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月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中旬）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4"/>
          <p:cNvSpPr/>
          <p:nvPr/>
        </p:nvSpPr>
        <p:spPr>
          <a:xfrm>
            <a:off x="491490" y="163449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线上答辩流程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AutoShape 5"/>
          <p:cNvSpPr/>
          <p:nvPr>
            <p:custDataLst>
              <p:tags r:id="rId4"/>
            </p:custDataLst>
          </p:nvPr>
        </p:nvSpPr>
        <p:spPr>
          <a:xfrm>
            <a:off x="491490" y="252349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990" y="2713990"/>
            <a:ext cx="406400" cy="406400"/>
          </a:xfrm>
          <a:prstGeom prst="rect">
            <a:avLst/>
          </a:prstGeom>
        </p:spPr>
      </p:pic>
      <p:sp>
        <p:nvSpPr>
          <p:cNvPr id="22" name="AutoShape 7"/>
          <p:cNvSpPr/>
          <p:nvPr>
            <p:custDataLst>
              <p:tags r:id="rId8"/>
            </p:custDataLst>
          </p:nvPr>
        </p:nvSpPr>
        <p:spPr>
          <a:xfrm>
            <a:off x="1253490" y="265049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个人作品展示 (5分钟/人)</a:t>
            </a:r>
            <a:endParaRPr lang="en-US" sz="1600" b="1" i="0" u="none" strike="noStrike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初赛晋级选手在</a:t>
            </a:r>
            <a:r>
              <a:rPr lang="en-US" sz="14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线上进行作品演示</a:t>
            </a: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，需清晰阐述项目核心亮点、关键技术实现路径与创新价值，直观呈现作品的实际应用潜力与独特优势，完成个人成果的完整输出。</a:t>
            </a:r>
            <a:endParaRPr 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3" name="AutoShape 8"/>
          <p:cNvSpPr/>
          <p:nvPr>
            <p:custDataLst>
              <p:tags r:id="rId9"/>
            </p:custDataLst>
          </p:nvPr>
        </p:nvSpPr>
        <p:spPr>
          <a:xfrm>
            <a:off x="491490" y="455549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Picture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1990" y="4745990"/>
            <a:ext cx="406400" cy="406400"/>
          </a:xfrm>
          <a:prstGeom prst="rect">
            <a:avLst/>
          </a:prstGeom>
        </p:spPr>
      </p:pic>
      <p:sp>
        <p:nvSpPr>
          <p:cNvPr id="25" name="AutoShape 10"/>
          <p:cNvSpPr/>
          <p:nvPr>
            <p:custDataLst>
              <p:tags r:id="rId13"/>
            </p:custDataLst>
          </p:nvPr>
        </p:nvSpPr>
        <p:spPr>
          <a:xfrm>
            <a:off x="1253490" y="468249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评委交流提问 (10分钟/人)</a:t>
            </a:r>
            <a:endParaRPr 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展示结束后，专业评审团针对作品细节、技术难点及未来规划进行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提问</a:t>
            </a: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。环节重点考察选手对项目的理解深度、技术知识储备，以及临场应变与逻辑思辨能力。</a:t>
            </a:r>
            <a:endParaRPr 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26" name="Connector 11"/>
          <p:cNvCxnSpPr/>
          <p:nvPr>
            <p:custDataLst>
              <p:tags r:id="rId14"/>
            </p:custDataLst>
          </p:nvPr>
        </p:nvCxnSpPr>
        <p:spPr>
          <a:xfrm rot="5390177">
            <a:off x="3983990" y="397764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2"/>
          <p:cNvSpPr/>
          <p:nvPr/>
        </p:nvSpPr>
        <p:spPr>
          <a:xfrm>
            <a:off x="6460490" y="163449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综合评定与晋级机制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AutoShape 13"/>
          <p:cNvSpPr/>
          <p:nvPr>
            <p:custDataLst>
              <p:tags r:id="rId15"/>
            </p:custDataLst>
          </p:nvPr>
        </p:nvSpPr>
        <p:spPr>
          <a:xfrm>
            <a:off x="6460490" y="252349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50990" y="2713990"/>
            <a:ext cx="406400" cy="406400"/>
          </a:xfrm>
          <a:prstGeom prst="rect">
            <a:avLst/>
          </a:prstGeom>
        </p:spPr>
      </p:pic>
      <p:sp>
        <p:nvSpPr>
          <p:cNvPr id="34" name="AutoShape 15"/>
          <p:cNvSpPr/>
          <p:nvPr>
            <p:custDataLst>
              <p:tags r:id="rId19"/>
            </p:custDataLst>
          </p:nvPr>
        </p:nvSpPr>
        <p:spPr>
          <a:xfrm>
            <a:off x="7222490" y="271399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多维加权综合评定</a:t>
            </a:r>
            <a:endParaRPr 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50000"/>
              </a:lnSpc>
              <a:defRPr/>
            </a:pP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评审工作采用量化评分体系，将初赛作品的技术完成度、创新性评分，与复赛现场答辩的表达逻辑、问题回应表现进行加权核算，从</a:t>
            </a:r>
            <a:r>
              <a:rPr lang="en-US" sz="14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作品实力与现场能力</a:t>
            </a: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两维度进行全面、客观的综合评判。</a:t>
            </a:r>
            <a:endParaRPr 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6"/>
          <p:cNvSpPr/>
          <p:nvPr>
            <p:custDataLst>
              <p:tags r:id="rId20"/>
            </p:custDataLst>
          </p:nvPr>
        </p:nvSpPr>
        <p:spPr>
          <a:xfrm>
            <a:off x="6460490" y="455549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50990" y="4745990"/>
            <a:ext cx="406400" cy="406400"/>
          </a:xfrm>
          <a:prstGeom prst="rect">
            <a:avLst/>
          </a:prstGeom>
        </p:spPr>
      </p:pic>
      <p:sp>
        <p:nvSpPr>
          <p:cNvPr id="45" name="AutoShape 18"/>
          <p:cNvSpPr/>
          <p:nvPr>
            <p:custDataLst>
              <p:tags r:id="rId24"/>
            </p:custDataLst>
          </p:nvPr>
        </p:nvSpPr>
        <p:spPr>
          <a:xfrm>
            <a:off x="7222490" y="468757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择优公示决赛名单</a:t>
            </a:r>
            <a:endParaRPr lang="en-US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依据综合评定的最终成绩排名，选出综合素质优异、技术实力过硬且现场表现突出的选手，确定并公示</a:t>
            </a:r>
            <a:r>
              <a:rPr lang="en-US" sz="14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晋级决赛的60</a:t>
            </a:r>
            <a:r>
              <a:rPr lang="zh-CN" altLang="en-US" sz="14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人</a:t>
            </a: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名单，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进入最终</a:t>
            </a:r>
            <a:r>
              <a:rPr 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决赛阶段比拼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11"/>
          <p:cNvSpPr txBox="1"/>
          <p:nvPr>
            <p:custDataLst>
              <p:tags r:id="rId1"/>
            </p:custDataLst>
          </p:nvPr>
        </p:nvSpPr>
        <p:spPr>
          <a:xfrm>
            <a:off x="7464425" y="401320"/>
            <a:ext cx="405193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线下研习营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10"/>
          <p:cNvSpPr/>
          <p:nvPr>
            <p:custDataLst>
              <p:tags r:id="rId2"/>
            </p:custDataLst>
          </p:nvPr>
        </p:nvSpPr>
        <p:spPr>
          <a:xfrm>
            <a:off x="7476490" y="833755"/>
            <a:ext cx="3923030" cy="7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AutoShape 2"/>
          <p:cNvSpPr/>
          <p:nvPr>
            <p:custDataLst>
              <p:tags r:id="rId4"/>
            </p:custDataLst>
          </p:nvPr>
        </p:nvSpPr>
        <p:spPr>
          <a:xfrm>
            <a:off x="365125" y="1010285"/>
            <a:ext cx="9474200" cy="47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>
              <a:lnSpc>
                <a:spcPct val="125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线下研习营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+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决赛（</a:t>
            </a:r>
            <a:r>
              <a:rPr 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7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月底，为期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天）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286510" y="1656080"/>
          <a:ext cx="9570720" cy="43427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69670"/>
                <a:gridCol w="1017270"/>
                <a:gridCol w="2160270"/>
                <a:gridCol w="5223510"/>
              </a:tblGrid>
              <a:tr h="47053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日期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内容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0000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7月</a:t>
                      </a:r>
                      <a:r>
                        <a:rPr lang="zh-CN" altLang="en-US" sz="1300" b="1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下旬</a:t>
                      </a:r>
                      <a:endParaRPr lang="zh-CN" altLang="en-US" sz="1300" b="1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上午</a:t>
                      </a:r>
                      <a:endParaRPr lang="zh-CN" alt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入围公示与自由组队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正式公布60名决赛入围选手名单，同步开启为期5天的自由组队阶段。选手需在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研习营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前完成组队，最终形成20支三人AI创新小组。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465455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7</a:t>
                      </a: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月</a:t>
                      </a: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底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研习营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第一日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上午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线下报到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选手签到、领取物料、办理入住。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68960">
                <a:tc vMerge="1"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下午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研习营启动</a:t>
                      </a:r>
                      <a:r>
                        <a:rPr lang="en-US" altLang="zh-CN" sz="13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&amp;</a:t>
                      </a:r>
                      <a:r>
                        <a:rPr lang="zh-CN" altLang="en-US" sz="13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参观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研学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发布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决赛赛题“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基于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公司现有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AI员工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的重做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迭代”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；</a:t>
                      </a:r>
                      <a:endParaRPr lang="zh-CN" alt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组织参观深圳COB领潮馆、OPPO全球总部大厦及海龙好房子体验馆。</a:t>
                      </a:r>
                      <a:endParaRPr lang="en-US" alt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464185">
                <a:tc vMerge="1"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晚间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AI知识培训</a:t>
                      </a: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&amp;赛题准备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由信息化部门领导及内部项目负责人开展AI前沿趋势与实战案例培训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；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晚间各小组研讨分工，制定技术路线。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研习营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第</a:t>
                      </a: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二日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全天</a:t>
                      </a:r>
                      <a:endParaRPr lang="zh-CN" alt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作品打磨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全天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各小组围绕真实业务场景，结合所学所见对参赛作品进行系统性优化与完善。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568960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研习营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第三日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（</a:t>
                      </a:r>
                      <a:r>
                        <a:rPr lang="zh-CN" altLang="en-US" sz="1300" b="1" i="0" u="none" strike="noStrike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决赛）</a:t>
                      </a:r>
                      <a:endParaRPr lang="zh-CN" altLang="en-US" sz="1300" b="1" i="0" u="none" strike="noStrike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上午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决赛与颁奖典礼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上午20支小组抽签答辩，由AI行业专家、公司高层及业务负责人组成评审团现场打分，决出奖项并举办颁奖典礼。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464185">
                <a:tc vMerge="1"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下午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返程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016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统一用餐后，有序安排所有参赛选手返程。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27000" marR="127000" marT="101600" marB="1016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4445000" y="1774825"/>
            <a:ext cx="3302000" cy="1016000"/>
          </a:xfrm>
          <a:prstGeom prst="trapezoid">
            <a:avLst/>
          </a:prstGeom>
          <a:solidFill>
            <a:srgbClr val="B91C1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一等奖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1支队伍·</a:t>
            </a:r>
            <a:r>
              <a:rPr lang="zh-CN" alt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每支</a:t>
            </a: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奖金3万元</a:t>
            </a:r>
            <a:endParaRPr lang="zh-CN" altLang="en-US" sz="14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3175000" y="3044825"/>
            <a:ext cx="5842000" cy="1016000"/>
          </a:xfrm>
          <a:prstGeom prst="trapezoid">
            <a:avLst/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二等奖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3支队伍·</a:t>
            </a: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每支</a:t>
            </a: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奖金2万元</a:t>
            </a:r>
            <a:endParaRPr lang="zh-CN" altLang="en-US" sz="14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05000" y="4314825"/>
            <a:ext cx="8382000" cy="1016000"/>
          </a:xfrm>
          <a:prstGeom prst="trapezoid">
            <a:avLst/>
          </a:prstGeom>
          <a:solidFill>
            <a:srgbClr val="FECAC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45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三等奖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45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5支队伍·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每支</a:t>
            </a:r>
            <a:r>
              <a:rPr lang="en-US" sz="1400" b="0" i="0" u="none" strike="noStrike">
                <a:solidFill>
                  <a:srgbClr val="450A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奖金1万元</a:t>
            </a:r>
            <a:endParaRPr lang="en-US" sz="1400" b="0" i="0" u="none" strike="noStrike">
              <a:solidFill>
                <a:srgbClr val="450A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8" name="AutoShape 2"/>
          <p:cNvSpPr/>
          <p:nvPr/>
        </p:nvSpPr>
        <p:spPr>
          <a:xfrm>
            <a:off x="365125" y="1010285"/>
            <a:ext cx="9474200" cy="47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25000"/>
              </a:lnSpc>
              <a:buClr>
                <a:srgbClr val="C00000"/>
              </a:buClr>
              <a:buFont typeface="Wingdings" panose="05000000000000000000" charset="0"/>
              <a:buChar char="n"/>
              <a:defRPr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决赛奖项设置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object 11"/>
          <p:cNvSpPr txBox="1"/>
          <p:nvPr>
            <p:custDataLst>
              <p:tags r:id="rId3"/>
            </p:custDataLst>
          </p:nvPr>
        </p:nvSpPr>
        <p:spPr>
          <a:xfrm>
            <a:off x="7464425" y="401320"/>
            <a:ext cx="4051935" cy="332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线下研习营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10"/>
          <p:cNvSpPr/>
          <p:nvPr>
            <p:custDataLst>
              <p:tags r:id="rId4"/>
            </p:custDataLst>
          </p:nvPr>
        </p:nvSpPr>
        <p:spPr>
          <a:xfrm>
            <a:off x="7476490" y="833755"/>
            <a:ext cx="3923030" cy="76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AutoShape 8"/>
          <p:cNvSpPr/>
          <p:nvPr>
            <p:custDataLst>
              <p:tags r:id="rId6"/>
            </p:custDataLst>
          </p:nvPr>
        </p:nvSpPr>
        <p:spPr>
          <a:xfrm>
            <a:off x="1524000" y="543496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普惠激励，表彰参与</a:t>
            </a:r>
            <a:endParaRPr 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未获等级奖队伍将获优胜奖证书或参赛证明，认可每支队伍的付出</a:t>
            </a:r>
            <a:r>
              <a:rPr lang="en-US" sz="11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0" i="0" u="none" strike="noStrike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0"/>
          <p:cNvSpPr/>
          <p:nvPr>
            <p:custDataLst>
              <p:tags r:id="rId7"/>
            </p:custDataLst>
          </p:nvPr>
        </p:nvSpPr>
        <p:spPr>
          <a:xfrm>
            <a:off x="7112000" y="543496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现场揭晓，荣誉加冕</a:t>
            </a:r>
            <a:endParaRPr lang="en-US" sz="1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评审后现场公布获奖名单，领导及嘉宾为获奖团队颁奖并合影留念</a:t>
            </a:r>
            <a:r>
              <a:rPr lang="en-US" sz="1100" b="0" i="0" u="none" strike="noStrike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0" i="0" u="none" strike="noStrike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04"/>
          <p:cNvSpPr/>
          <p:nvPr/>
        </p:nvSpPr>
        <p:spPr>
          <a:xfrm>
            <a:off x="6348702" y="3163618"/>
            <a:ext cx="123172" cy="1528880"/>
          </a:xfrm>
          <a:prstGeom prst="rect">
            <a:avLst/>
          </a:prstGeom>
          <a:ln w="12700">
            <a:miter lim="400000"/>
          </a:ln>
        </p:spPr>
        <p:txBody>
          <a:bodyPr wrap="none" lIns="60959" rIns="60959">
            <a:spAutoFit/>
          </a:bodyPr>
          <a:lstStyle>
            <a:lvl1pPr algn="ctr">
              <a:defRPr sz="7000">
                <a:ln w="17780">
                  <a:solidFill>
                    <a:srgbClr val="FDFCFC"/>
                  </a:solidFill>
                </a:ln>
                <a:solidFill>
                  <a:srgbClr val="A63212"/>
                </a:solidFill>
                <a:effectLst>
                  <a:outerShdw blurRad="50800" dist="50800" dir="5400000" rotWithShape="0">
                    <a:srgbClr val="000000">
                      <a:alpha val="33000"/>
                    </a:srgbClr>
                  </a:outerShdw>
                </a:effectLst>
                <a:latin typeface="標楷體"/>
                <a:ea typeface="標楷體"/>
                <a:cs typeface="標楷體"/>
                <a:sym typeface="標楷體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ln w="9525">
                  <a:noFill/>
                </a:ln>
                <a:solidFill>
                  <a:srgbClr val="000000"/>
                </a:solidFill>
                <a:effectLst/>
              </a:defRPr>
            </a:pPr>
            <a:endParaRPr kumimoji="0" sz="9335" b="0" i="0" u="none" strike="noStrike" kern="1200" cap="none" spc="0" normalizeH="0" baseline="0" noProof="0" dirty="0">
              <a:ln w="9525">
                <a:noFill/>
              </a:ln>
              <a:solidFill>
                <a:srgbClr val="000000"/>
              </a:solidFill>
              <a:effectLst/>
              <a:uLnTx/>
              <a:uFillTx/>
              <a:latin typeface="標楷體"/>
              <a:ea typeface="標楷體"/>
              <a:sym typeface="標楷體"/>
            </a:endParaRPr>
          </a:p>
        </p:txBody>
      </p:sp>
      <p:pic>
        <p:nvPicPr>
          <p:cNvPr id="3" name="图片 2" descr="图片包含 游戏机, 物体, 灯, 钟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200" y="2496212"/>
            <a:ext cx="7231599" cy="133481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5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6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7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8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9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0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1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2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3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4.xml><?xml version="1.0" encoding="utf-8"?>
<p:tagLst xmlns:p="http://schemas.openxmlformats.org/presentationml/2006/main">
  <p:tag name="KSO_WM_DIAGRAM_VIRTUALLY_FRAME" val="{&quot;height&quot;:210,&quot;left&quot;:40,&quot;top&quot;:190,&quot;width&quot;:890}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8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19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0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1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2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3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4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5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6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7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8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29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0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1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2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3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4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5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6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7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8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39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0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1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2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3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4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5.xml><?xml version="1.0" encoding="utf-8"?>
<p:tagLst xmlns:p="http://schemas.openxmlformats.org/presentationml/2006/main">
  <p:tag name="KSO_WM_DIAGRAM_VIRTUALLY_FRAME" val="{&quot;height&quot;:311.95,&quot;left&quot;:-0.05,&quot;top&quot;:175.9,&quot;width&quot;:960.05}"/>
</p:tagLst>
</file>

<file path=ppt/tags/tag46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47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48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49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0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1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2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3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4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5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6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7.xml><?xml version="1.0" encoding="utf-8"?>
<p:tagLst xmlns:p="http://schemas.openxmlformats.org/presentationml/2006/main">
  <p:tag name="KSO_WM_DIAGRAM_VIRTUALLY_FRAME" val="{&quot;height&quot;:444.7,&quot;left&quot;:40,&quot;top&quot;:90,&quot;width&quot;:880}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1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2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3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4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5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6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7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8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69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0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1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2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3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4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5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6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7.xml><?xml version="1.0" encoding="utf-8"?>
<p:tagLst xmlns:p="http://schemas.openxmlformats.org/presentationml/2006/main">
  <p:tag name="KSO_WM_DIAGRAM_VIRTUALLY_FRAME" val="{&quot;height&quot;:150,&quot;left&quot;:40,&quot;top&quot;:360,&quot;width&quot;:890}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3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4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5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6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7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8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89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90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91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92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93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94.xml><?xml version="1.0" encoding="utf-8"?>
<p:tagLst xmlns:p="http://schemas.openxmlformats.org/presentationml/2006/main">
  <p:tag name="KSO_WM_DIAGRAM_VIRTUALLY_FRAME" val="{&quot;height&quot;:351.3014285685013,&quot;left&quot;:38.7,&quot;top&quot;:138.69999437716666,&quot;width&quot;:881.3}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DIAGRAM_VIRTUALLY_FRAME" val="{&quot;height&quot;:418.3,&quot;left&quot;:28.75,&quot;top&quot;:79.55,&quot;width&quot;:784.45}"/>
</p:tagLst>
</file>

<file path=ppt/tags/tag98.xml><?xml version="1.0" encoding="utf-8"?>
<p:tagLst xmlns:p="http://schemas.openxmlformats.org/presentationml/2006/main">
  <p:tag name="KSO_WM_DIAGRAM_VIRTUALLY_FRAME" val="{&quot;height&quot;:248.2,&quot;left&quot;:120,&quot;top&quot;:239.75,&quot;width&quot;:780}"/>
</p:tagLst>
</file>

<file path=ppt/tags/tag99.xml><?xml version="1.0" encoding="utf-8"?>
<p:tagLst xmlns:p="http://schemas.openxmlformats.org/presentationml/2006/main">
  <p:tag name="KSO_WM_DIAGRAM_VIRTUALLY_FRAME" val="{&quot;height&quot;:248.2,&quot;left&quot;:120,&quot;top&quot;:239.75,&quot;width&quot;:780}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DIAGRAM_VIRTUALLY_FRAME" val="{&quot;height&quot;:248.2,&quot;left&quot;:120,&quot;top&quot;:239.75,&quot;width&quot;:780}"/>
</p:tagLst>
</file>

<file path=ppt/tags/tag103.xml><?xml version="1.0" encoding="utf-8"?>
<p:tagLst xmlns:p="http://schemas.openxmlformats.org/presentationml/2006/main">
  <p:tag name="KSO_WM_DIAGRAM_VIRTUALLY_FRAME" val="{&quot;height&quot;:248.2,&quot;left&quot;:120,&quot;top&quot;:239.75,&quot;width&quot;:780}"/>
</p:tagLst>
</file>

<file path=ppt/tags/tag104.xml><?xml version="1.0" encoding="utf-8"?>
<p:tagLst xmlns:p="http://schemas.openxmlformats.org/presentationml/2006/main">
  <p:tag name="RESOURCE_RECORD_KEY" val="{&quot;70&quot;:[3321758,3314101,3430315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2422</Words>
  <Application>WPS 演示</Application>
  <PresentationFormat>宽屏</PresentationFormat>
  <Paragraphs>236</Paragraphs>
  <Slides>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华文中宋</vt:lpstr>
      <vt:lpstr>Noto Sans SC</vt:lpstr>
      <vt:lpstr>Wingdings</vt:lpstr>
      <vt:lpstr>標楷體</vt:lpstr>
      <vt:lpstr>楷体_GB2312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csci</dc:creator>
  <cp:lastModifiedBy>景辉</cp:lastModifiedBy>
  <cp:revision>853</cp:revision>
  <cp:lastPrinted>2026-06-02T02:17:00Z</cp:lastPrinted>
  <dcterms:created xsi:type="dcterms:W3CDTF">2026-05-25T06:28:00Z</dcterms:created>
  <dcterms:modified xsi:type="dcterms:W3CDTF">2026-06-10T06:29:20Z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36847DD00A6C494C8E443293D8967AEF_13</vt:lpwstr>
  </property>
</Properties>
</file>