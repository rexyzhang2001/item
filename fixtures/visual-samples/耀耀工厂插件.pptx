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0" clrIdx="0"/>
  <p:cmAuthor id="2" name="幸全" initials="幸全" lastIdx="0" clrIdx="1"/>
  <p:cmAuthor id="3" name="作者" initials="A" lastIdx="0" clrIdx="2"/>
  <p:cmAuthor id="4" name="何慧彬" initials="HHB" lastIdx="0" clrIdx="3"/>
  <p:cmAuthor id="5" name="Zhang Meichen" initials="ZM" lastIdx="0" clrIdx="4"/>
  <p:cmAuthor id="6" name="Lenovo" initials="L" lastIdx="0" clrIdx="5"/>
  <p:cmAuthor id="7" name="lenovo" initials="l" lastIdx="0" clrIdx="6"/>
  <p:cmAuthor id="8" name="liuyansong" initials="l" lastIdx="0" clrIdx="7"/>
  <p:cmAuthor id="9" name="csci" initials="c" lastIdx="0" clrIdx="8"/>
  <p:cmAuthor id="10" name="0000" initials="00" lastIdx="0" clrIdx="9"/>
  <p:cmAuthor id="11" name="Liao, Stacy Fan Wei (CN - Hong Kong)" initials="LSFW(-HK" lastIdx="0" clrIdx="10"/>
  <p:cmAuthor id="12" name="myema" initials="m" lastIdx="0" clrIdx="11"/>
  <p:cmAuthor id="13" name="longi.cheng" initials="l" lastIdx="0" clrIdx="12"/>
  <p:cmAuthor id="14" name="刘议濛" initials="刘" lastIdx="0" clrIdx="13"/>
  <p:cmAuthor id="15" name="LENOVO" initials="L" lastIdx="0" clrIdx="14"/>
  <p:cmAuthor id="16" name="未知用户2" initials="未" lastIdx="0" clrIdx="15"/>
  <p:cmAuthor id="17" name="未知用户5" initials="未" lastIdx="0" clrIdx="16"/>
  <p:cmAuthor id="18" name="李新" initials="李" lastIdx="0" clrIdx="17"/>
  <p:cmAuthor id="19" name="Pan, Jason Chi Feng (CN - Guangzhou)" initials="P" lastIdx="0" clrIdx="18"/>
  <p:cmAuthor id="20" name="Unknown User2" initials="U" lastIdx="0" clrIdx="19"/>
  <p:cmAuthor id="21" name="齐昕" initials="齐" lastIdx="0" clrIdx="20"/>
  <p:cmAuthor id="22" name="刘 洪亮" initials="刘" lastIdx="0" clrIdx="21"/>
  <p:cmAuthor id="23" name="Hans Yang" initials="H" lastIdx="0" clrIdx="22"/>
  <p:cmAuthor id="24" name="he" initials="h" lastIdx="0" clrIdx="23"/>
  <p:cmAuthor id="25" name="蒋铁峰" initials="蒋" lastIdx="0" clrIdx="24"/>
  <p:cmAuthor id="26" name="ZhangXiaoMin" initials="Z" lastIdx="0" clrIdx="25"/>
  <p:cmAuthor id="27" name="Li, Siyu" initials="L" lastIdx="0" clrIdx="26"/>
  <p:cmAuthor id="28" name="jiang" initials="j" lastIdx="0" clrIdx="27"/>
  <p:cmAuthor id="29" name="王二狗" initials="王" lastIdx="0" clrIdx="28"/>
  <p:cmAuthor id="30" name="宋遥" initials="宋" lastIdx="0" clrIdx="29"/>
  <p:cmAuthor id="31" name="李阳酉" initials="李" lastIdx="0" clrIdx="30"/>
  <p:cmAuthor id="32" name="未知用户22" initials="未" lastIdx="0" clrIdx="31"/>
  <p:cmAuthor id="33" name="未知用户23" initials="未" lastIdx="0" clrIdx="32"/>
  <p:cmAuthor id="34" name="COHL" initials="C" lastIdx="0" clrIdx="33"/>
  <p:cmAuthor id="35" name="张晋" initials="张晋" lastIdx="0" clrIdx="34"/>
  <p:cmAuthor id="36" name="Feifei Han @ Savills, SZ" initials="FH@SS" lastIdx="0" clrIdx="35"/>
  <p:cmAuthor id="37" name="魏语良" initials="魏" lastIdx="0" clrIdx="36"/>
  <p:cmAuthor id="38" name="未知用户4" initials="未" lastIdx="0" clrIdx="37"/>
  <p:cmAuthor id="39" name="锦 程" initials="锦" lastIdx="0" clrIdx="38"/>
  <p:cmAuthor id="40" name="未知用户1" initials="未" lastIdx="0" clrIdx="39"/>
  <p:cmAuthor id="41" name="严 辰" initials="严" lastIdx="0" clrIdx="4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02B"/>
    <a:srgbClr val="000818"/>
    <a:srgbClr val="001435"/>
    <a:srgbClr val="6ADDF5"/>
    <a:srgbClr val="010A16"/>
    <a:srgbClr val="020B0F"/>
    <a:srgbClr val="000A14"/>
    <a:srgbClr val="012338"/>
    <a:srgbClr val="001026"/>
    <a:srgbClr val="001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E9F3E-596F-48D9-A838-C1A444550FE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3FE2B-42A1-48A8-85F4-302AAFC434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5779" y="0"/>
            <a:ext cx="12185522" cy="6858000"/>
            <a:chOff x="64" y="0"/>
            <a:chExt cx="12185522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64" y="0"/>
              <a:ext cx="12185522" cy="6858000"/>
              <a:chOff x="64" y="0"/>
              <a:chExt cx="12185522" cy="6858000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64" y="0"/>
                <a:ext cx="12185522" cy="6858000"/>
                <a:chOff x="64" y="0"/>
                <a:chExt cx="12185522" cy="6858000"/>
              </a:xfrm>
            </p:grpSpPr>
            <p:pic>
              <p:nvPicPr>
                <p:cNvPr id="3" name="Picture 2"/>
                <p:cNvPicPr>
                  <a:picLocks noChangeAspect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" y="0"/>
                  <a:ext cx="12185522" cy="6858000"/>
                </a:xfrm>
                <a:prstGeom prst="rect">
                  <a:avLst/>
                </a:prstGeom>
              </p:spPr>
            </p:pic>
            <p:sp>
              <p:nvSpPr>
                <p:cNvPr id="2" name="矩形 1"/>
                <p:cNvSpPr/>
                <p:nvPr/>
              </p:nvSpPr>
              <p:spPr>
                <a:xfrm>
                  <a:off x="5146040" y="1036320"/>
                  <a:ext cx="975360" cy="599440"/>
                </a:xfrm>
                <a:prstGeom prst="rect">
                  <a:avLst/>
                </a:prstGeom>
                <a:solidFill>
                  <a:srgbClr val="000F27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椭圆 5"/>
                <p:cNvSpPr/>
                <p:nvPr/>
              </p:nvSpPr>
              <p:spPr>
                <a:xfrm>
                  <a:off x="5420995" y="1984375"/>
                  <a:ext cx="675005" cy="665480"/>
                </a:xfrm>
                <a:prstGeom prst="ellipse">
                  <a:avLst/>
                </a:prstGeom>
                <a:solidFill>
                  <a:srgbClr val="010B1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圆角矩形 9"/>
                <p:cNvSpPr/>
                <p:nvPr/>
              </p:nvSpPr>
              <p:spPr>
                <a:xfrm>
                  <a:off x="336550" y="3400425"/>
                  <a:ext cx="729615" cy="381000"/>
                </a:xfrm>
                <a:prstGeom prst="roundRect">
                  <a:avLst/>
                </a:prstGeom>
                <a:solidFill>
                  <a:srgbClr val="010D2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900" b="1"/>
                    <a:t>Body cam</a:t>
                  </a:r>
                  <a:endParaRPr lang="en-US" altLang="zh-CN" sz="900" b="1"/>
                </a:p>
                <a:p>
                  <a:pPr algn="ctr"/>
                  <a:r>
                    <a:rPr lang="zh-CN" altLang="en-US" sz="900" b="1"/>
                    <a:t>智能穿戴</a:t>
                  </a:r>
                  <a:endParaRPr lang="zh-CN" altLang="en-US" sz="900" b="1"/>
                </a:p>
              </p:txBody>
            </p:sp>
            <p:sp>
              <p:nvSpPr>
                <p:cNvPr id="11" name="圆角矩形 10"/>
                <p:cNvSpPr/>
                <p:nvPr/>
              </p:nvSpPr>
              <p:spPr>
                <a:xfrm>
                  <a:off x="292100" y="4035425"/>
                  <a:ext cx="679450" cy="381000"/>
                </a:xfrm>
                <a:prstGeom prst="roundRect">
                  <a:avLst/>
                </a:prstGeom>
                <a:solidFill>
                  <a:srgbClr val="010D2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900" b="1"/>
                    <a:t>无人机</a:t>
                  </a:r>
                  <a:endParaRPr lang="zh-CN" altLang="en-US" sz="900" b="1"/>
                </a:p>
              </p:txBody>
            </p:sp>
            <p:sp>
              <p:nvSpPr>
                <p:cNvPr id="12" name="圆角矩形 11"/>
                <p:cNvSpPr/>
                <p:nvPr/>
              </p:nvSpPr>
              <p:spPr>
                <a:xfrm>
                  <a:off x="336550" y="2765425"/>
                  <a:ext cx="679450" cy="381000"/>
                </a:xfrm>
                <a:prstGeom prst="roundRect">
                  <a:avLst/>
                </a:prstGeom>
                <a:solidFill>
                  <a:srgbClr val="010D2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900" b="1"/>
                    <a:t>360 Cam</a:t>
                  </a:r>
                  <a:endParaRPr lang="en-US" altLang="zh-CN" sz="900" b="1"/>
                </a:p>
              </p:txBody>
            </p:sp>
            <p:sp>
              <p:nvSpPr>
                <p:cNvPr id="13" name="圆角矩形 12"/>
                <p:cNvSpPr/>
                <p:nvPr/>
              </p:nvSpPr>
              <p:spPr>
                <a:xfrm>
                  <a:off x="336550" y="2073275"/>
                  <a:ext cx="679450" cy="381000"/>
                </a:xfrm>
                <a:prstGeom prst="roundRect">
                  <a:avLst/>
                </a:prstGeom>
                <a:solidFill>
                  <a:srgbClr val="010D2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900" b="1"/>
                    <a:t>防火</a:t>
                  </a:r>
                  <a:r>
                    <a:rPr lang="en-US" altLang="zh-CN" sz="900" b="1"/>
                    <a:t>Cam</a:t>
                  </a:r>
                  <a:endParaRPr lang="en-US" altLang="zh-CN" sz="900" b="1"/>
                </a:p>
              </p:txBody>
            </p:sp>
            <p:sp>
              <p:nvSpPr>
                <p:cNvPr id="14" name="圆角矩形 13"/>
                <p:cNvSpPr/>
                <p:nvPr/>
              </p:nvSpPr>
              <p:spPr>
                <a:xfrm>
                  <a:off x="279400" y="1406525"/>
                  <a:ext cx="679450" cy="381000"/>
                </a:xfrm>
                <a:prstGeom prst="roundRect">
                  <a:avLst/>
                </a:prstGeom>
                <a:solidFill>
                  <a:srgbClr val="010D2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b="1"/>
                    <a:t>CCTV</a:t>
                  </a:r>
                  <a:endParaRPr lang="en-US" sz="900" b="1"/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9042397" y="2439740"/>
                  <a:ext cx="3136018" cy="185914"/>
                </a:xfrm>
                <a:prstGeom prst="rect">
                  <a:avLst/>
                </a:prstGeom>
                <a:solidFill>
                  <a:srgbClr val="00091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zh-CN" altLang="en-US" sz="1400" dirty="0">
                      <a:latin typeface="方正黑体_GBK" panose="03000509000000000000" pitchFamily="65" charset="-122"/>
                      <a:ea typeface="方正黑体_GBK" panose="03000509000000000000" pitchFamily="65" charset="-122"/>
                    </a:rPr>
                    <a:t>（如下午</a:t>
                  </a:r>
                  <a:r>
                    <a:rPr lang="en-US" altLang="zh-CN" sz="1400" dirty="0">
                      <a:latin typeface="方正黑体_GBK" panose="03000509000000000000" pitchFamily="65" charset="-122"/>
                      <a:ea typeface="方正黑体_GBK" panose="03000509000000000000" pitchFamily="65" charset="-122"/>
                    </a:rPr>
                    <a:t>3</a:t>
                  </a:r>
                  <a:r>
                    <a:rPr lang="zh-CN" altLang="en-US" sz="1400" dirty="0">
                      <a:latin typeface="方正黑体_GBK" panose="03000509000000000000" pitchFamily="65" charset="-122"/>
                      <a:ea typeface="方正黑体_GBK" panose="03000509000000000000" pitchFamily="65" charset="-122"/>
                    </a:rPr>
                    <a:t>点</a:t>
                  </a:r>
                  <a:r>
                    <a:rPr lang="en-US" altLang="zh-CN" sz="1400" dirty="0">
                      <a:latin typeface="方正黑体_GBK" panose="03000509000000000000" pitchFamily="65" charset="-122"/>
                      <a:ea typeface="方正黑体_GBK" panose="03000509000000000000" pitchFamily="65" charset="-122"/>
                    </a:rPr>
                    <a:t>1</a:t>
                  </a:r>
                  <a:r>
                    <a:rPr lang="zh-CN" altLang="en-US" sz="1400" dirty="0">
                      <a:latin typeface="方正黑体_GBK" panose="03000509000000000000" pitchFamily="65" charset="-122"/>
                      <a:ea typeface="方正黑体_GBK" panose="03000509000000000000" pitchFamily="65" charset="-122"/>
                    </a:rPr>
                    <a:t>座</a:t>
                  </a:r>
                  <a:r>
                    <a:rPr lang="en-US" altLang="zh-CN" sz="1400" dirty="0">
                      <a:latin typeface="方正黑体_GBK" panose="03000509000000000000" pitchFamily="65" charset="-122"/>
                      <a:ea typeface="方正黑体_GBK" panose="03000509000000000000" pitchFamily="65" charset="-122"/>
                    </a:rPr>
                    <a:t>RCD</a:t>
                  </a:r>
                  <a:r>
                    <a:rPr lang="zh-CN" altLang="en-US" sz="1400" dirty="0">
                      <a:latin typeface="方正黑体_GBK" panose="03000509000000000000" pitchFamily="65" charset="-122"/>
                      <a:ea typeface="方正黑体_GBK" panose="03000509000000000000" pitchFamily="65" charset="-122"/>
                    </a:rPr>
                    <a:t>发生了什么）</a:t>
                  </a:r>
                  <a:endParaRPr lang="zh-CN" altLang="en-US" sz="1400" dirty="0">
                    <a:latin typeface="方正黑体_GBK" panose="03000509000000000000" pitchFamily="65" charset="-122"/>
                    <a:ea typeface="方正黑体_GBK" panose="03000509000000000000" pitchFamily="65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434330" y="1928495"/>
                  <a:ext cx="817245" cy="734060"/>
                </a:xfrm>
                <a:prstGeom prst="rect">
                  <a:avLst/>
                </a:prstGeom>
              </p:spPr>
            </p:pic>
          </p:grpSp>
          <p:sp>
            <p:nvSpPr>
              <p:cNvPr id="7" name="矩形 6"/>
              <p:cNvSpPr/>
              <p:nvPr/>
            </p:nvSpPr>
            <p:spPr>
              <a:xfrm>
                <a:off x="9700180" y="75414"/>
                <a:ext cx="2413263" cy="490194"/>
              </a:xfrm>
              <a:prstGeom prst="rect">
                <a:avLst/>
              </a:prstGeom>
              <a:solidFill>
                <a:srgbClr val="00071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78557" y="125756"/>
              <a:ext cx="2413263" cy="490194"/>
            </a:xfrm>
            <a:prstGeom prst="rect">
              <a:avLst/>
            </a:prstGeom>
            <a:solidFill>
              <a:srgbClr val="0007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 descr="赤瞳守护者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845" y="1020445"/>
            <a:ext cx="628015" cy="628015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20" name="圆角矩形 19"/>
          <p:cNvSpPr/>
          <p:nvPr/>
        </p:nvSpPr>
        <p:spPr>
          <a:xfrm>
            <a:off x="3543300" y="1059815"/>
            <a:ext cx="1900555" cy="572135"/>
          </a:xfrm>
          <a:prstGeom prst="roundRect">
            <a:avLst/>
          </a:prstGeom>
          <a:solidFill>
            <a:srgbClr val="001435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赤瞳守护者插件</a:t>
            </a:r>
            <a:b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lang="zh-CN" altLang="en-US" sz="1200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已上架耀耀工厂</a:t>
            </a:r>
            <a:endParaRPr lang="zh-CN" altLang="en-US" sz="1200" i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491865" y="2030095"/>
            <a:ext cx="1998345" cy="572135"/>
          </a:xfrm>
          <a:prstGeom prst="roundRect">
            <a:avLst/>
          </a:prstGeom>
          <a:solidFill>
            <a:srgbClr val="001435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搭建工作流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/智能体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zh-CN" altLang="en-US" sz="1200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低成本建立视觉</a:t>
            </a:r>
            <a:r>
              <a:rPr lang="zh-CN" altLang="en-US" sz="1200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员工</a:t>
            </a:r>
            <a:endParaRPr lang="zh-CN" altLang="en-US" sz="1200" i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080" y="4991735"/>
            <a:ext cx="3333750" cy="1562735"/>
          </a:xfrm>
          <a:prstGeom prst="roundRect">
            <a:avLst/>
          </a:prstGeom>
          <a:ln>
            <a:solidFill>
              <a:schemeClr val="accent1"/>
            </a:solidFill>
          </a:ln>
        </p:spPr>
      </p:pic>
      <p:sp>
        <p:nvSpPr>
          <p:cNvPr id="25" name="圆角矩形 24"/>
          <p:cNvSpPr/>
          <p:nvPr/>
        </p:nvSpPr>
        <p:spPr>
          <a:xfrm>
            <a:off x="3966210" y="126365"/>
            <a:ext cx="5553710" cy="452120"/>
          </a:xfrm>
          <a:prstGeom prst="roundRect">
            <a:avLst/>
          </a:prstGeom>
          <a:solidFill>
            <a:srgbClr val="000818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工地视觉数字员工，多路视频一键巡检</a:t>
            </a:r>
            <a:endParaRPr lang="zh-CN" altLang="en-US" sz="20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84200" y="963930"/>
            <a:ext cx="1900555" cy="188595"/>
          </a:xfrm>
          <a:prstGeom prst="roundRect">
            <a:avLst/>
          </a:prstGeom>
          <a:solidFill>
            <a:srgbClr val="00102B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地盘视觉资源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WPS 演示</Application>
  <PresentationFormat>宽屏</PresentationFormat>
  <Paragraphs>22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方正黑体_GBK</vt:lpstr>
      <vt:lpstr>微软雅黑</vt:lpstr>
      <vt:lpstr>方正细黑一简体</vt:lpstr>
      <vt:lpstr>黑体</vt:lpstr>
      <vt:lpstr>標楷體</vt:lpstr>
      <vt:lpstr>Calibri</vt:lpstr>
      <vt:lpstr>等线</vt:lpstr>
      <vt:lpstr>Arial Unicode MS</vt:lpstr>
      <vt:lpstr>Calibri Light</vt:lpstr>
      <vt:lpstr>KSOFEC83043A</vt:lpstr>
      <vt:lpstr>AMGDT</vt:lpstr>
      <vt:lpstr>KSOF9D93F73C</vt:lpstr>
      <vt:lpstr>方正细黑一简体</vt:lpstr>
      <vt:lpstr>方正黑体_GBK</vt:lpstr>
      <vt:lpstr>標楷體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 Ka Yiu</dc:creator>
  <cp:lastModifiedBy>鬚覗厵</cp:lastModifiedBy>
  <cp:revision>26</cp:revision>
  <dcterms:created xsi:type="dcterms:W3CDTF">2026-05-13T06:11:00Z</dcterms:created>
  <dcterms:modified xsi:type="dcterms:W3CDTF">2026-05-17T10:42:30Z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6F7FD9DC5B9148E289303349F647DE48_13</vt:lpwstr>
  </property>
  <property fmtid="{D5CDD505-2E9C-101B-9397-08002B2CF9AE}" pid="3" name="KSOProductBuildVer">
    <vt:lpwstr>2052-12.1.0.25865</vt:lpwstr>
  </property>
</Properties>
</file>